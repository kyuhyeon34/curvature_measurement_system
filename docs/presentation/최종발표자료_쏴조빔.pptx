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  <p:sldMasterId id="2147483667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0" r:id="rId18"/>
    <p:sldId id="275" r:id="rId19"/>
    <p:sldId id="272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A89337-9AA0-4014-9409-03288307E013}">
  <a:tblStyle styleId="{FDA89337-9AA0-4014-9409-03288307E01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908" y="78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d0a6a6d0b_6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d0a6a6d0b_6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4100dfcda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4100dfcda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4100dfcda_3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4100dfcda_3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4100dfcd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4100dfcd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4100dfcda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4100dfcda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4100dfcda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4100dfcda_3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037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4100dfcd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a4100dfcd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solidFill>
          <a:srgbClr val="3C4043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89000"/>
          </a:blip>
          <a:srcRect r="7370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096438" y="3682629"/>
            <a:ext cx="3190187" cy="78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479393" y="325748"/>
            <a:ext cx="4968907" cy="177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 i="0" u="none" strike="noStrike" cap="none">
                <a:solidFill>
                  <a:srgbClr val="74A4C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 산학프로젝트</a:t>
            </a:r>
            <a:endParaRPr/>
          </a:p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결과보고</a:t>
            </a: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7838" y="4554669"/>
            <a:ext cx="4320000" cy="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7322095" y="3670740"/>
            <a:ext cx="865743" cy="99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</a:t>
            </a:r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10382250" y="6280150"/>
            <a:ext cx="1695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2025.12.19.(금)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bg>
      <p:bgPr>
        <a:solidFill>
          <a:srgbClr val="3C404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 amt="89000"/>
          </a:blip>
          <a:srcRect r="7370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3901581" y="2930129"/>
            <a:ext cx="4388836" cy="99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 b="1" i="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5400" b="1" i="0" u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" name="Google Shape;21;p3"/>
          <p:cNvGrpSpPr/>
          <p:nvPr/>
        </p:nvGrpSpPr>
        <p:grpSpPr>
          <a:xfrm>
            <a:off x="268497" y="226317"/>
            <a:ext cx="1852404" cy="736947"/>
            <a:chOff x="268496" y="226317"/>
            <a:chExt cx="2037617" cy="810631"/>
          </a:xfrm>
        </p:grpSpPr>
        <p:pic>
          <p:nvPicPr>
            <p:cNvPr id="22" name="Google Shape;22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496" y="226317"/>
              <a:ext cx="2037617" cy="810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/>
            <p:cNvPicPr preferRelativeResize="0"/>
            <p:nvPr/>
          </p:nvPicPr>
          <p:blipFill rotWithShape="1">
            <a:blip r:embed="rId4">
              <a:alphaModFix/>
            </a:blip>
            <a:srcRect r="82141" b="56678"/>
            <a:stretch/>
          </p:blipFill>
          <p:spPr>
            <a:xfrm>
              <a:off x="268496" y="226317"/>
              <a:ext cx="365100" cy="3523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 레이아웃">
  <p:cSld name="목차 레이아웃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8100"/>
            <a:ext cx="3011212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4539"/>
            <a:ext cx="180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8537" y="709939"/>
            <a:ext cx="8381933" cy="545519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568667" y="1076831"/>
            <a:ext cx="7866045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/>
        </p:nvSpPr>
        <p:spPr>
          <a:xfrm>
            <a:off x="321530" y="769796"/>
            <a:ext cx="14784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 sz="4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차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분할형">
  <p:cSld name="01 분할형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가로형">
  <p:cSld name="02 가로형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가로형">
  <p:cSld name="03 가로형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가로형">
  <p:cSld name="05 가로형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가로형">
  <p:cSld name="06 가로형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solidFill>
          <a:srgbClr val="3C404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 amt="89000"/>
          </a:blip>
          <a:srcRect r="7370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4096438" y="3682629"/>
            <a:ext cx="3190187" cy="78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/>
          <p:nvPr/>
        </p:nvSpPr>
        <p:spPr>
          <a:xfrm>
            <a:off x="479393" y="325748"/>
            <a:ext cx="4968907" cy="177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 i="0" u="none" strike="noStrike">
                <a:solidFill>
                  <a:srgbClr val="74A4C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 산학프로젝트</a:t>
            </a:r>
            <a:endParaRPr/>
          </a:p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 i="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결과보고</a:t>
            </a:r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7838" y="4554669"/>
            <a:ext cx="4320000" cy="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/>
        </p:nvSpPr>
        <p:spPr>
          <a:xfrm>
            <a:off x="7322095" y="3670740"/>
            <a:ext cx="865743" cy="99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 b="0" i="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10382250" y="6280150"/>
            <a:ext cx="1695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2025.12.19.(금)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가로형">
  <p:cSld name="01 가로형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가로형">
  <p:cSld name="04 가로형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0" y="2241688"/>
            <a:ext cx="10515600" cy="394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850901" y="2241688"/>
            <a:ext cx="10490200" cy="391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분할형">
  <p:cSld name="02 분할형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분할형">
  <p:cSld name="03 분할형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분할형">
  <p:cSld name="04 분할형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분할형">
  <p:cSld name="05 분할형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2334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분할형">
  <p:cSld name="06 분할형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121830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8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550" y="2121829"/>
            <a:ext cx="5181600" cy="40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2000" y="498574"/>
            <a:ext cx="216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0482" y="6254671"/>
            <a:ext cx="1513114" cy="50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84219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2"/>
          </p:nvPr>
        </p:nvSpPr>
        <p:spPr>
          <a:xfrm>
            <a:off x="6172202" y="2144920"/>
            <a:ext cx="5162550" cy="40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bg>
      <p:bgPr>
        <a:solidFill>
          <a:srgbClr val="3C4043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 rotWithShape="1">
          <a:blip r:embed="rId2">
            <a:alphaModFix amt="89000"/>
          </a:blip>
          <a:srcRect r="7370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3901581" y="2930129"/>
            <a:ext cx="4388836" cy="99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 b="1" i="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5400" b="1" i="0" u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0" name="Google Shape;150;p20"/>
          <p:cNvGrpSpPr/>
          <p:nvPr/>
        </p:nvGrpSpPr>
        <p:grpSpPr>
          <a:xfrm>
            <a:off x="268497" y="226317"/>
            <a:ext cx="1852404" cy="736947"/>
            <a:chOff x="268496" y="226317"/>
            <a:chExt cx="2037617" cy="810631"/>
          </a:xfrm>
        </p:grpSpPr>
        <p:pic>
          <p:nvPicPr>
            <p:cNvPr id="151" name="Google Shape;1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496" y="226317"/>
              <a:ext cx="2037617" cy="810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0"/>
            <p:cNvPicPr preferRelativeResize="0"/>
            <p:nvPr/>
          </p:nvPicPr>
          <p:blipFill rotWithShape="1">
            <a:blip r:embed="rId4">
              <a:alphaModFix/>
            </a:blip>
            <a:srcRect r="82141" b="56678"/>
            <a:stretch/>
          </p:blipFill>
          <p:spPr>
            <a:xfrm>
              <a:off x="268496" y="226317"/>
              <a:ext cx="365100" cy="3523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16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3873500" y="3794811"/>
            <a:ext cx="3580245" cy="78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쏴조빔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909897" y="2383793"/>
            <a:ext cx="103722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500">
                <a:solidFill>
                  <a:schemeClr val="lt1"/>
                </a:solidFill>
              </a:rPr>
              <a:t>레이저 변위센서를 이용한 곡률측정 시스템</a:t>
            </a:r>
            <a:endParaRPr sz="3500" i="0" u="none" strike="noStrike" cap="none">
              <a:solidFill>
                <a:schemeClr val="lt1"/>
              </a:solidFill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9493779" y="5388661"/>
            <a:ext cx="2466975" cy="78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ko-KR" sz="1700" i="0" u="none" strike="noStrike" cap="none">
                <a:solidFill>
                  <a:schemeClr val="lt1"/>
                </a:solidFill>
              </a:rPr>
              <a:t>지도교수:송동섭 교수님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lang="ko-KR" sz="1700" i="0" u="none" strike="noStrike" cap="none">
                <a:solidFill>
                  <a:schemeClr val="lt1"/>
                </a:solidFill>
              </a:rPr>
              <a:t>참여기업:㈜천진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body" idx="1"/>
          </p:nvPr>
        </p:nvSpPr>
        <p:spPr>
          <a:xfrm>
            <a:off x="3568667" y="1051431"/>
            <a:ext cx="7866045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제작동기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제작과정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작품설명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결과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결과분석 및 토의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느낀점 및 애로사항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894125" y="2152525"/>
            <a:ext cx="5088000" cy="3978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01  프로젝트 제작동기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23"/>
          <p:cNvGraphicFramePr/>
          <p:nvPr/>
        </p:nvGraphicFramePr>
        <p:xfrm>
          <a:off x="6326961" y="2188022"/>
          <a:ext cx="5162525" cy="3943400"/>
        </p:xfrm>
        <a:graphic>
          <a:graphicData uri="http://schemas.openxmlformats.org/drawingml/2006/table">
            <a:tbl>
              <a:tblPr firstRow="1" bandRow="1">
                <a:noFill/>
                <a:tableStyleId>{FDA89337-9AA0-4014-9409-03288307E013}</a:tableStyleId>
              </a:tblPr>
              <a:tblGrid>
                <a:gridCol w="107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성   명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소속학과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역할 및 수행내용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김재민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하드웨어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이규현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하드웨어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이준서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하드웨어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우희준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소프트웨어 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주재홍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소프트웨어 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조민재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전자공학과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소프트웨어  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2" name="Google Shape;172;p23" descr="확인 표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4849" y="3731286"/>
            <a:ext cx="250947" cy="25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 descr="확인 표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4849" y="4270465"/>
            <a:ext cx="250947" cy="25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 descr="확인 표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4848" y="4809657"/>
            <a:ext cx="250947" cy="25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descr="줄 화살표: 일자형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223651" y="5256046"/>
            <a:ext cx="322150" cy="3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1207375" y="2333625"/>
            <a:ext cx="49203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b="1">
                <a:latin typeface="Arial"/>
                <a:ea typeface="Arial"/>
                <a:cs typeface="Arial"/>
                <a:sym typeface="Arial"/>
              </a:rPr>
              <a:t>공정 불량의 원인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디스플레이 및 반도체 제조 공정에서 평탄도 및 미세한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곡률 변화는 심각한 품질 문제를 초래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5555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b="1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1800" b="1">
                <a:latin typeface="Arial"/>
                <a:ea typeface="Arial"/>
                <a:cs typeface="Arial"/>
                <a:sym typeface="Arial"/>
              </a:rPr>
              <a:t>측정 반복성 저하</a:t>
            </a:r>
            <a:r>
              <a:rPr lang="ko-KR" sz="1800">
                <a:latin typeface="Arial"/>
                <a:ea typeface="Arial"/>
                <a:cs typeface="Arial"/>
                <a:sym typeface="Arial"/>
              </a:rPr>
              <a:t>: 동일 공정 내 데이터 신뢰도 하락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ko-KR" sz="1800" b="1">
                <a:latin typeface="Arial"/>
                <a:ea typeface="Arial"/>
                <a:cs typeface="Arial"/>
                <a:sym typeface="Arial"/>
              </a:rPr>
              <a:t>공정 편차 증가</a:t>
            </a:r>
            <a:r>
              <a:rPr lang="ko-KR" sz="1800">
                <a:latin typeface="Arial"/>
                <a:ea typeface="Arial"/>
                <a:cs typeface="Arial"/>
                <a:sym typeface="Arial"/>
              </a:rPr>
              <a:t>: 제품 간 품질 격차 발생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ko-KR" sz="1800" b="1">
                <a:latin typeface="Arial"/>
                <a:ea typeface="Arial"/>
                <a:cs typeface="Arial"/>
                <a:sym typeface="Arial"/>
              </a:rPr>
              <a:t>제품 균일도 저하</a:t>
            </a:r>
            <a:r>
              <a:rPr lang="ko-KR" sz="1800">
                <a:latin typeface="Arial"/>
                <a:ea typeface="Arial"/>
                <a:cs typeface="Arial"/>
                <a:sym typeface="Arial"/>
              </a:rPr>
              <a:t>: 공정 불안정 유발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ko-KR" sz="215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형상 변화를 실시간으로 시각화 할 수 있는 시스템을</a:t>
            </a:r>
            <a:endParaRPr sz="2150"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3720"/>
              <a:buNone/>
            </a:pPr>
            <a:r>
              <a:rPr lang="ko-KR" sz="215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목표로 개발을 진행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6096000" y="2269953"/>
            <a:ext cx="51940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949625" y="2261075"/>
            <a:ext cx="47904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01  프로젝트 제작동기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5824" y="2213998"/>
            <a:ext cx="607977" cy="60797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1150075" y="2293016"/>
            <a:ext cx="4733400" cy="37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</a:t>
            </a:r>
            <a:r>
              <a:rPr lang="ko-KR" sz="2400" b="1" dirty="0">
                <a:solidFill>
                  <a:srgbClr val="FF0000"/>
                </a:solidFill>
              </a:rPr>
              <a:t>기존 방식의 한계</a:t>
            </a:r>
            <a:endParaRPr sz="2400" b="1"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dirty="0">
                <a:solidFill>
                  <a:schemeClr val="dk1"/>
                </a:solidFill>
              </a:rPr>
              <a:t>1. 접촉식 방식의 제품 손상 위험</a:t>
            </a:r>
            <a:endParaRPr sz="21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압력에 의해 제품 표면에 미세한 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스크래치 또는 변형 유발 가능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dirty="0">
                <a:solidFill>
                  <a:schemeClr val="dk1"/>
                </a:solidFill>
              </a:rPr>
              <a:t>2. 단일 지점 측정의 데이터 신뢰성 부족</a:t>
            </a:r>
            <a:endParaRPr sz="21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장비 규모가 크고 구축 비용이 높아 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현장 적용에 부담</a:t>
            </a:r>
            <a:endParaRPr dirty="0"/>
          </a:p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3312" y="2213998"/>
            <a:ext cx="607977" cy="60797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6557175" y="1970975"/>
            <a:ext cx="4643700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</a:rPr>
              <a:t>           </a:t>
            </a:r>
            <a:r>
              <a:rPr lang="ko-KR" sz="2400" b="1" dirty="0">
                <a:solidFill>
                  <a:schemeClr val="accent6"/>
                </a:solidFill>
              </a:rPr>
              <a:t>제안: 원호 스캔 시스템</a:t>
            </a:r>
            <a:endParaRPr sz="2400" b="1" dirty="0">
              <a:solidFill>
                <a:schemeClr val="accent6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dirty="0">
                <a:solidFill>
                  <a:schemeClr val="dk1"/>
                </a:solidFill>
              </a:rPr>
              <a:t>1. 단일 모터 기반 연속 스캔</a:t>
            </a:r>
            <a:endParaRPr sz="22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모터 회전만으로 넓은 범위 측정 가능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dirty="0">
                <a:solidFill>
                  <a:schemeClr val="dk1"/>
                </a:solidFill>
              </a:rPr>
              <a:t>2. 실시간 시각화</a:t>
            </a:r>
            <a:endParaRPr sz="22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</a:rPr>
              <a:t>형상 변화를 즉각적으로 그래프화 하여 공정 피드백 속도 향상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/>
          <p:nvPr/>
        </p:nvSpPr>
        <p:spPr>
          <a:xfrm>
            <a:off x="6153876" y="2293600"/>
            <a:ext cx="25011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8716989" y="2293600"/>
            <a:ext cx="25011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3590751" y="2293600"/>
            <a:ext cx="25011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1032425" y="2261075"/>
            <a:ext cx="2501100" cy="3834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836024" y="273118"/>
            <a:ext cx="10517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02  프로젝트 제작과정</a:t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6680676" y="2512850"/>
            <a:ext cx="1447500" cy="5295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715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51525" tIns="25750" rIns="51525" bIns="25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5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r>
              <a:rPr lang="ko-KR" sz="281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18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9243789" y="2512850"/>
            <a:ext cx="1447500" cy="5295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715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51525" tIns="25750" rIns="51525" bIns="25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5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r>
              <a:rPr lang="ko-KR" sz="281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18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4171575" y="2512850"/>
            <a:ext cx="1447500" cy="5295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715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51525" tIns="25750" rIns="51525" bIns="25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5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r>
              <a:rPr lang="ko-KR" sz="281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18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559225" y="2512850"/>
            <a:ext cx="1447500" cy="529500"/>
          </a:xfrm>
          <a:prstGeom prst="roundRect">
            <a:avLst>
              <a:gd name="adj" fmla="val 48812"/>
            </a:avLst>
          </a:prstGeom>
          <a:solidFill>
            <a:srgbClr val="001746"/>
          </a:solidFill>
          <a:ln w="715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51525" tIns="25750" rIns="51525" bIns="25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54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r>
              <a:rPr lang="ko-KR" sz="2818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18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975" y="3244738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/>
        </p:nvSpPr>
        <p:spPr>
          <a:xfrm>
            <a:off x="836025" y="4052971"/>
            <a:ext cx="3190800" cy="19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 ● 메커니즘 설계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 단일 모터 기반 원호 스캔 구조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 (측정 범위: -30˚ ~ 30˚)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 ● 데이터 설계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 센서 거리 데이터와 모터 각도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 데이터의 실시간 동기화 구조 설계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1256825" y="4011082"/>
            <a:ext cx="205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기획 및 설계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325" y="3224861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3682401" y="4011075"/>
            <a:ext cx="231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하드웨어(H/W) 구축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3501475" y="4030375"/>
            <a:ext cx="3190800" cy="19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핵심 부품 선정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   </a:t>
            </a:r>
            <a:r>
              <a:rPr lang="ko-KR" sz="1200">
                <a:solidFill>
                  <a:schemeClr val="dk1"/>
                </a:solidFill>
              </a:rPr>
              <a:t>고정밀 레이저 변위 센서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및 모터 선정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회로 구성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STM32 MCU 기반 제어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회로 및 펌웨어 개발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4426" y="324475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6245526" y="4011075"/>
            <a:ext cx="231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소프트웨어(S/W) 구축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6107300" y="4456575"/>
            <a:ext cx="2609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알고리즘 구현(STM32)</a:t>
            </a:r>
            <a:r>
              <a:rPr lang="ko-KR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거리값 변환 및 곡률/평탄도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연산 및 알고리즘 구현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GUI 개발(Python)</a:t>
            </a:r>
            <a:r>
              <a:rPr lang="ko-KR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측정 결과(곡률, 평탄도) 출력 및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실시간 시각화 GUI 구현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7539" y="3224850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8808639" y="4011071"/>
            <a:ext cx="231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및 성능 검증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8717000" y="4011075"/>
            <a:ext cx="3190800" cy="22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시스템 통합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H/W 구동과 S/W 데이터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처리의 최적화 및 연동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  ● 성능 평가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반복 테스트를 통한 정밀도 검증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</a:rPr>
              <a:t>      및 기존 방식과의 성능 비교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838200" y="5490950"/>
            <a:ext cx="10533375" cy="6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02  프로젝트 제작과정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1054100" y="4605025"/>
            <a:ext cx="2197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2" name="Google Shape;2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300" y="2269987"/>
            <a:ext cx="3239999" cy="323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 rotWithShape="1">
          <a:blip r:embed="rId5">
            <a:alphaModFix/>
          </a:blip>
          <a:srcRect l="8088"/>
          <a:stretch/>
        </p:blipFill>
        <p:spPr>
          <a:xfrm>
            <a:off x="4482348" y="2269986"/>
            <a:ext cx="3240003" cy="323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 rotWithShape="1">
          <a:blip r:embed="rId6">
            <a:alphaModFix/>
          </a:blip>
          <a:srcRect l="16205"/>
          <a:stretch/>
        </p:blipFill>
        <p:spPr>
          <a:xfrm>
            <a:off x="8088400" y="2269985"/>
            <a:ext cx="3240000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1997448" y="5595211"/>
            <a:ext cx="2068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1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초기</a:t>
            </a:r>
            <a:endParaRPr sz="282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5669835" y="5595198"/>
            <a:ext cx="2068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1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 중반</a:t>
            </a:r>
            <a:endParaRPr sz="282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9291437" y="5595198"/>
            <a:ext cx="2068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1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완성</a:t>
            </a:r>
            <a:endParaRPr sz="282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82978" y="5650539"/>
            <a:ext cx="290239" cy="29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06445" y="5650526"/>
            <a:ext cx="290239" cy="29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9714" y="5650526"/>
            <a:ext cx="290239" cy="29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641937" y="3683313"/>
            <a:ext cx="3314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252287" y="3712963"/>
            <a:ext cx="33062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>
            <a:off x="1188725" y="2884200"/>
            <a:ext cx="2264400" cy="247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3707175" y="2884200"/>
            <a:ext cx="2288400" cy="247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285225" y="2884125"/>
            <a:ext cx="2203200" cy="247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8856775" y="2884125"/>
            <a:ext cx="2157300" cy="247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27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03  작품설명</a:t>
            </a:r>
            <a:endParaRPr/>
          </a:p>
        </p:txBody>
      </p:sp>
      <p:sp>
        <p:nvSpPr>
          <p:cNvPr id="242" name="Google Shape;242;p27"/>
          <p:cNvSpPr txBox="1"/>
          <p:nvPr/>
        </p:nvSpPr>
        <p:spPr>
          <a:xfrm>
            <a:off x="1188886" y="4625375"/>
            <a:ext cx="22644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모터 원점 복귀 및 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센서 영점 조정 수행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3655722" y="4625375"/>
            <a:ext cx="234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-30˚ ~ 30˚ 구간을 연속 스캔하며 데이터 획득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6320300" y="4625375"/>
            <a:ext cx="21573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스캔 데이터 기반으로 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곡률 및 평탄도 연산 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8985775" y="4625375"/>
            <a:ext cx="1920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GUI를 통해 결과 및 그래프 출력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975" y="306635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/>
        </p:nvSpPr>
        <p:spPr>
          <a:xfrm>
            <a:off x="1256825" y="4009895"/>
            <a:ext cx="205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초기화</a:t>
            </a:r>
            <a:endParaRPr sz="2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8" name="Google Shape;2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770" y="306635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8950" y="306635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86225" y="306635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3805620" y="4009895"/>
            <a:ext cx="205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연속 스캔</a:t>
            </a:r>
            <a:endParaRPr sz="2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6372800" y="4009895"/>
            <a:ext cx="205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데이터 연산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8920075" y="4009895"/>
            <a:ext cx="205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결과 출력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6145250" y="2318625"/>
            <a:ext cx="5158800" cy="37368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935750" y="4352425"/>
            <a:ext cx="5158800" cy="17031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935750" y="2318625"/>
            <a:ext cx="5158800" cy="1951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28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03 작품설명</a:t>
            </a:r>
            <a:endParaRPr/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14" y="242092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25" y="446027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169" y="2472401"/>
            <a:ext cx="273135" cy="25704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/>
        </p:nvSpPr>
        <p:spPr>
          <a:xfrm>
            <a:off x="1482725" y="2318613"/>
            <a:ext cx="27246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Hardware</a:t>
            </a:r>
            <a:endParaRPr sz="2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985125" y="2814825"/>
            <a:ext cx="50481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Sensor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en-US" alt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4μm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Motor		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Range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±30˚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MCU		STM32F411CEU6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Mount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3D 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Printed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1482725" y="4323563"/>
            <a:ext cx="27246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Software</a:t>
            </a:r>
            <a:endParaRPr sz="2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985125" y="4926650"/>
            <a:ext cx="5251800" cy="10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Interface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GUI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		UART 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Serial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●"/>
            </a:pP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Logic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	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Bow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Curv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6940300" y="2372025"/>
            <a:ext cx="41664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7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 프로세스(Operation Process)</a:t>
            </a:r>
            <a:endParaRPr sz="1907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6658206" y="2796372"/>
            <a:ext cx="46461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 시작(Start)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PC GUI 측정 명령 전송 및 모터/센서 초기화</a:t>
            </a:r>
            <a:endParaRPr sz="141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6658206" y="3361266"/>
            <a:ext cx="46461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스캔(Scan)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-30</a:t>
            </a:r>
            <a:r>
              <a:rPr lang="ko-KR">
                <a:solidFill>
                  <a:schemeClr val="dk1"/>
                </a:solidFill>
              </a:rPr>
              <a:t>˚ ~ </a:t>
            </a: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r>
              <a:rPr lang="ko-KR">
                <a:solidFill>
                  <a:schemeClr val="dk1"/>
                </a:solidFill>
              </a:rPr>
              <a:t>˚ 회전, </a:t>
            </a:r>
            <a:r>
              <a:rPr lang="ko-KR" b="1">
                <a:solidFill>
                  <a:schemeClr val="dk1"/>
                </a:solidFill>
              </a:rPr>
              <a:t>30ms(33Hz)</a:t>
            </a:r>
            <a:r>
              <a:rPr lang="ko-KR">
                <a:solidFill>
                  <a:schemeClr val="dk1"/>
                </a:solidFill>
              </a:rPr>
              <a:t> 주기 데이터 샘플링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2" name="Google Shape;27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5175" y="2891545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5172" y="3432460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33525" y="4071576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6658206" y="3973376"/>
            <a:ext cx="46461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연산(MCU Calculation)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 내부에서 거리/각도 데이터 동기화 및 처리</a:t>
            </a:r>
            <a:endParaRPr sz="141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7" name="Google Shape;277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33525" y="4710707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6658206" y="4626186"/>
            <a:ext cx="46461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및 분석(Analysis)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내에서 임계값</a:t>
            </a:r>
            <a:r>
              <a:rPr lang="ko-KR" sz="1416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0.05mm</a:t>
            </a: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초과 시 </a:t>
            </a:r>
            <a:r>
              <a:rPr lang="ko-KR" sz="1416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불량(NG)</a:t>
            </a:r>
            <a:endParaRPr sz="1416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판정</a:t>
            </a:r>
            <a:endParaRPr sz="141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9" name="Google Shape;279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33525" y="5491009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6657956" y="5404225"/>
            <a:ext cx="46461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200" tIns="87200" rIns="87200" bIns="87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시각화(Visualization)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1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GUI에서 결과 및 그래프 출력</a:t>
            </a:r>
            <a:endParaRPr sz="141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/>
          <p:nvPr/>
        </p:nvSpPr>
        <p:spPr>
          <a:xfrm>
            <a:off x="6142375" y="2318625"/>
            <a:ext cx="4424100" cy="3761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1379800" y="2318625"/>
            <a:ext cx="4424100" cy="3761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29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03 작품설명</a:t>
            </a:r>
            <a:endParaRPr/>
          </a:p>
        </p:txBody>
      </p:sp>
      <p:pic>
        <p:nvPicPr>
          <p:cNvPr id="288" name="Google Shape;288;p29"/>
          <p:cNvPicPr preferRelativeResize="0"/>
          <p:nvPr/>
        </p:nvPicPr>
        <p:blipFill rotWithShape="1">
          <a:blip r:embed="rId3">
            <a:alphaModFix/>
          </a:blip>
          <a:srcRect t="16225" b="24515"/>
          <a:stretch/>
        </p:blipFill>
        <p:spPr>
          <a:xfrm>
            <a:off x="1791850" y="2551038"/>
            <a:ext cx="3600000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4425" y="2551047"/>
            <a:ext cx="3600000" cy="2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2151250" y="5557375"/>
            <a:ext cx="2881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재료</a:t>
            </a:r>
            <a:endParaRPr sz="2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6913825" y="5557375"/>
            <a:ext cx="2881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 표면</a:t>
            </a:r>
            <a:endParaRPr sz="2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249500" y="5749975"/>
            <a:ext cx="929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03 작품설명</a:t>
            </a:r>
            <a:endParaRPr/>
          </a:p>
        </p:txBody>
      </p:sp>
      <p:grpSp>
        <p:nvGrpSpPr>
          <p:cNvPr id="298" name="Google Shape;298;p30"/>
          <p:cNvGrpSpPr/>
          <p:nvPr/>
        </p:nvGrpSpPr>
        <p:grpSpPr>
          <a:xfrm>
            <a:off x="837146" y="5585633"/>
            <a:ext cx="7922150" cy="658593"/>
            <a:chOff x="787400" y="4020088"/>
            <a:chExt cx="7922150" cy="658593"/>
          </a:xfrm>
        </p:grpSpPr>
        <p:pic>
          <p:nvPicPr>
            <p:cNvPr id="299" name="Google Shape;299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7400" y="4040506"/>
              <a:ext cx="6943725" cy="63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30"/>
            <p:cNvSpPr txBox="1"/>
            <p:nvPr/>
          </p:nvSpPr>
          <p:spPr>
            <a:xfrm>
              <a:off x="6008350" y="4020088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150" tIns="92150" rIns="92150" bIns="921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스캔 데이터 전송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01" name="Google Shape;301;p30"/>
          <p:cNvGrpSpPr/>
          <p:nvPr/>
        </p:nvGrpSpPr>
        <p:grpSpPr>
          <a:xfrm>
            <a:off x="3495125" y="3752250"/>
            <a:ext cx="5837758" cy="1833550"/>
            <a:chOff x="3495372" y="3752677"/>
            <a:chExt cx="5539721" cy="1802015"/>
          </a:xfrm>
        </p:grpSpPr>
        <p:pic>
          <p:nvPicPr>
            <p:cNvPr id="302" name="Google Shape;302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95372" y="3752677"/>
              <a:ext cx="4066948" cy="1802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30"/>
            <p:cNvSpPr txBox="1"/>
            <p:nvPr/>
          </p:nvSpPr>
          <p:spPr>
            <a:xfrm>
              <a:off x="6333893" y="3985564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150" tIns="92150" rIns="92150" bIns="921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UART 통신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838199" y="1857884"/>
            <a:ext cx="5527643" cy="1878616"/>
            <a:chOff x="787408" y="1850685"/>
            <a:chExt cx="5717462" cy="1943128"/>
          </a:xfrm>
        </p:grpSpPr>
        <p:pic>
          <p:nvPicPr>
            <p:cNvPr id="305" name="Google Shape;305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7409" y="2251792"/>
              <a:ext cx="5457825" cy="1542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30"/>
            <p:cNvSpPr txBox="1"/>
            <p:nvPr/>
          </p:nvSpPr>
          <p:spPr>
            <a:xfrm>
              <a:off x="3803670" y="2298378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100" tIns="89100" rIns="89100" bIns="891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실시간 거리 측정 및 전송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787408" y="1850685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100" tIns="89100" rIns="89100" bIns="891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STM32 코드</a:t>
              </a:r>
              <a:endPara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838199" y="3736496"/>
            <a:ext cx="3490650" cy="1849135"/>
            <a:chOff x="5128439" y="3841815"/>
            <a:chExt cx="3610519" cy="1912634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28439" y="3857925"/>
              <a:ext cx="2635512" cy="1896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6037758" y="3841815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100" tIns="89100" rIns="89100" bIns="891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스캔시 모터제어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311" name="Google Shape;31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6275" y="3752250"/>
            <a:ext cx="3391275" cy="25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10137146" y="4548039"/>
            <a:ext cx="261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00" tIns="89100" rIns="89100" bIns="89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평탄도 및</a:t>
            </a:r>
            <a:endParaRPr sz="15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곡률 계산</a:t>
            </a:r>
            <a:endParaRPr sz="15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3" name="Google Shape;313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2775" y="2245675"/>
            <a:ext cx="5084776" cy="14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0"/>
          <p:cNvSpPr txBox="1"/>
          <p:nvPr/>
        </p:nvSpPr>
        <p:spPr>
          <a:xfrm>
            <a:off x="10080871" y="2245664"/>
            <a:ext cx="261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00" tIns="89100" rIns="89100" bIns="89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변환</a:t>
            </a:r>
            <a:endParaRPr sz="15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03 작품설명</a:t>
            </a:r>
            <a:endParaRPr/>
          </a:p>
        </p:txBody>
      </p:sp>
      <p:grpSp>
        <p:nvGrpSpPr>
          <p:cNvPr id="320" name="Google Shape;320;p31"/>
          <p:cNvGrpSpPr/>
          <p:nvPr/>
        </p:nvGrpSpPr>
        <p:grpSpPr>
          <a:xfrm>
            <a:off x="857575" y="2260848"/>
            <a:ext cx="6154771" cy="2329820"/>
            <a:chOff x="881972" y="2257847"/>
            <a:chExt cx="5815714" cy="2201474"/>
          </a:xfrm>
        </p:grpSpPr>
        <p:pic>
          <p:nvPicPr>
            <p:cNvPr id="321" name="Google Shape;32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1972" y="2257850"/>
              <a:ext cx="4482283" cy="2201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31"/>
            <p:cNvSpPr txBox="1"/>
            <p:nvPr/>
          </p:nvSpPr>
          <p:spPr>
            <a:xfrm>
              <a:off x="3996486" y="2257847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7525" tIns="97525" rIns="97525" bIns="975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그래프 출력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3" name="Google Shape;323;p31"/>
          <p:cNvSpPr txBox="1"/>
          <p:nvPr/>
        </p:nvSpPr>
        <p:spPr>
          <a:xfrm>
            <a:off x="831043" y="1859741"/>
            <a:ext cx="2701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92150" rIns="92150" bIns="92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Python 코드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4" name="Google Shape;324;p31"/>
          <p:cNvGrpSpPr/>
          <p:nvPr/>
        </p:nvGrpSpPr>
        <p:grpSpPr>
          <a:xfrm>
            <a:off x="5882137" y="4353165"/>
            <a:ext cx="6684238" cy="1822844"/>
            <a:chOff x="5823136" y="3708729"/>
            <a:chExt cx="5232281" cy="2466969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23136" y="3708729"/>
              <a:ext cx="4283091" cy="2466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8354217" y="4245866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실시간 거리값 출력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857600" y="4720225"/>
            <a:ext cx="4914812" cy="1455775"/>
            <a:chOff x="838200" y="4719925"/>
            <a:chExt cx="4914812" cy="1455775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8200" y="4719925"/>
              <a:ext cx="4743600" cy="1455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3051812" y="4800150"/>
              <a:ext cx="27012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150" tIns="92150" rIns="92150" bIns="921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임계값 초과시 빨간점 표시</a:t>
              </a:r>
              <a:endParaRPr sz="15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30" name="Google Shape;330;p31"/>
          <p:cNvGrpSpPr/>
          <p:nvPr/>
        </p:nvGrpSpPr>
        <p:grpSpPr>
          <a:xfrm>
            <a:off x="5881987" y="2246723"/>
            <a:ext cx="7601390" cy="1963407"/>
            <a:chOff x="5646025" y="2257843"/>
            <a:chExt cx="7601390" cy="1805100"/>
          </a:xfrm>
        </p:grpSpPr>
        <p:pic>
          <p:nvPicPr>
            <p:cNvPr id="331" name="Google Shape;331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46025" y="2257843"/>
              <a:ext cx="5468108" cy="180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31"/>
            <p:cNvSpPr txBox="1"/>
            <p:nvPr/>
          </p:nvSpPr>
          <p:spPr>
            <a:xfrm>
              <a:off x="9866715" y="2403655"/>
              <a:ext cx="33807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100" tIns="87100" rIns="87100" bIns="871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24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GUI 구현</a:t>
              </a:r>
              <a:endParaRPr sz="2667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/>
          <p:nvPr/>
        </p:nvSpPr>
        <p:spPr>
          <a:xfrm>
            <a:off x="7983250" y="2606150"/>
            <a:ext cx="3295500" cy="31803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4490175" y="2606150"/>
            <a:ext cx="3406200" cy="31803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32"/>
          <p:cNvSpPr/>
          <p:nvPr/>
        </p:nvSpPr>
        <p:spPr>
          <a:xfrm>
            <a:off x="997100" y="2606150"/>
            <a:ext cx="3406200" cy="31803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32"/>
          <p:cNvSpPr txBox="1">
            <a:spLocks noGrp="1"/>
          </p:cNvSpPr>
          <p:nvPr>
            <p:ph type="body" idx="1"/>
          </p:nvPr>
        </p:nvSpPr>
        <p:spPr>
          <a:xfrm>
            <a:off x="749275" y="2668847"/>
            <a:ext cx="10490100" cy="52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 b="1"/>
              <a:t>          ● 평탄도 측정 공식                   ● 곡률 측정 공식                     ● 불량 판정 기준</a:t>
            </a:r>
            <a:endParaRPr sz="1800" b="1"/>
          </a:p>
        </p:txBody>
      </p:sp>
      <p:sp>
        <p:nvSpPr>
          <p:cNvPr id="341" name="Google Shape;341;p32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03 작품설명</a:t>
            </a:r>
            <a:endParaRPr/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t="69956"/>
          <a:stretch/>
        </p:blipFill>
        <p:spPr>
          <a:xfrm>
            <a:off x="8161900" y="3004525"/>
            <a:ext cx="29382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7983250" y="5187325"/>
            <a:ext cx="32955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임계값 = 0.05mm 초과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4" name="Google Shape;34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198" y="3070773"/>
            <a:ext cx="288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3275" y="3070772"/>
            <a:ext cx="288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836024" y="273118"/>
            <a:ext cx="105177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04  프로젝트 결과</a:t>
            </a:r>
            <a:endParaRPr/>
          </a:p>
        </p:txBody>
      </p:sp>
      <p:sp>
        <p:nvSpPr>
          <p:cNvPr id="351" name="Google Shape;351;p33"/>
          <p:cNvSpPr/>
          <p:nvPr/>
        </p:nvSpPr>
        <p:spPr>
          <a:xfrm>
            <a:off x="6255149" y="2182252"/>
            <a:ext cx="5034300" cy="39564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3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550" tIns="89550" rIns="89550" bIns="89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6256838" y="2178621"/>
            <a:ext cx="5034300" cy="597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5264E"/>
          </a:solidFill>
          <a:ln w="93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550" tIns="89550" rIns="89550" bIns="89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53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2. 조금 휨(LOW)</a:t>
            </a:r>
            <a:endParaRPr sz="2253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6254604" y="2761125"/>
            <a:ext cx="5034300" cy="821700"/>
          </a:xfrm>
          <a:prstGeom prst="rect">
            <a:avLst/>
          </a:prstGeom>
          <a:solidFill>
            <a:srgbClr val="EFEFEF"/>
          </a:solidFill>
          <a:ln w="93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550" tIns="89550" rIns="89550" bIns="89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71">
                <a:latin typeface="Malgun Gothic"/>
                <a:ea typeface="Malgun Gothic"/>
                <a:cs typeface="Malgun Gothic"/>
                <a:sym typeface="Malgun Gothic"/>
              </a:rPr>
              <a:t> 샘플 사진</a:t>
            </a:r>
            <a:endParaRPr sz="137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33"/>
          <p:cNvSpPr/>
          <p:nvPr/>
        </p:nvSpPr>
        <p:spPr>
          <a:xfrm rot="10800000" flipH="1">
            <a:off x="6252633" y="4280690"/>
            <a:ext cx="5040000" cy="1857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FEFEF"/>
          </a:solidFill>
          <a:ln w="93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550" tIns="89550" rIns="89550" bIns="89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900599" y="2184071"/>
            <a:ext cx="5035800" cy="39564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902288" y="2180440"/>
            <a:ext cx="5035800" cy="597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C4587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1. 평평함(FLAT)</a:t>
            </a:r>
            <a:endParaRPr sz="23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900055" y="2762944"/>
            <a:ext cx="5035800" cy="82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33"/>
          <p:cNvSpPr/>
          <p:nvPr/>
        </p:nvSpPr>
        <p:spPr>
          <a:xfrm rot="10800000" flipH="1">
            <a:off x="898083" y="4282509"/>
            <a:ext cx="5040000" cy="1857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표 사진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3">
            <a:alphaModFix/>
          </a:blip>
          <a:srcRect t="56650" b="29461"/>
          <a:stretch/>
        </p:blipFill>
        <p:spPr>
          <a:xfrm>
            <a:off x="896650" y="2753725"/>
            <a:ext cx="5040000" cy="83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3"/>
          <p:cNvPicPr preferRelativeResize="0"/>
          <p:nvPr/>
        </p:nvPicPr>
        <p:blipFill rotWithShape="1">
          <a:blip r:embed="rId4">
            <a:alphaModFix/>
          </a:blip>
          <a:srcRect t="55679" b="32338"/>
          <a:stretch/>
        </p:blipFill>
        <p:spPr>
          <a:xfrm>
            <a:off x="6256850" y="2758900"/>
            <a:ext cx="5034301" cy="82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4600" y="4280701"/>
            <a:ext cx="5039999" cy="18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/>
          <p:cNvPicPr preferRelativeResize="0"/>
          <p:nvPr/>
        </p:nvPicPr>
        <p:blipFill rotWithShape="1">
          <a:blip r:embed="rId6">
            <a:alphaModFix/>
          </a:blip>
          <a:srcRect b="33222"/>
          <a:stretch/>
        </p:blipFill>
        <p:spPr>
          <a:xfrm>
            <a:off x="900200" y="4282502"/>
            <a:ext cx="5040000" cy="18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3"/>
          <p:cNvSpPr txBox="1"/>
          <p:nvPr/>
        </p:nvSpPr>
        <p:spPr>
          <a:xfrm>
            <a:off x="6253850" y="3585775"/>
            <a:ext cx="5035800" cy="696900"/>
          </a:xfrm>
          <a:prstGeom prst="rect">
            <a:avLst/>
          </a:prstGeom>
          <a:noFill/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chemeClr val="dk1"/>
                </a:solidFill>
              </a:rPr>
              <a:t>곡률(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lang="ko-KR" sz="1900" b="1" dirty="0">
                <a:solidFill>
                  <a:schemeClr val="dk1"/>
                </a:solidFill>
              </a:rPr>
              <a:t>) :</a:t>
            </a:r>
            <a:r>
              <a:rPr lang="en-US" altLang="ko-KR" sz="1900" b="1" dirty="0">
                <a:solidFill>
                  <a:schemeClr val="dk1"/>
                </a:solidFill>
              </a:rPr>
              <a:t> </a:t>
            </a:r>
            <a:r>
              <a:rPr lang="ko-KR" sz="1900" b="1" dirty="0">
                <a:solidFill>
                  <a:schemeClr val="dk1"/>
                </a:solidFill>
              </a:rPr>
              <a:t> 661.8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r>
              <a:rPr lang="ko-KR" sz="1900" b="1" dirty="0">
                <a:solidFill>
                  <a:schemeClr val="dk1"/>
                </a:solidFill>
              </a:rPr>
              <a:t>   평탄도 :  -1.434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 txBox="1"/>
          <p:nvPr/>
        </p:nvSpPr>
        <p:spPr>
          <a:xfrm>
            <a:off x="898750" y="3585775"/>
            <a:ext cx="5035800" cy="696900"/>
          </a:xfrm>
          <a:prstGeom prst="rect">
            <a:avLst/>
          </a:prstGeom>
          <a:noFill/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chemeClr val="dk1"/>
                </a:solidFill>
              </a:rPr>
              <a:t>곡률(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lang="ko-KR" sz="1900" b="1" dirty="0">
                <a:solidFill>
                  <a:schemeClr val="dk1"/>
                </a:solidFill>
              </a:rPr>
              <a:t>) :</a:t>
            </a:r>
            <a:r>
              <a:rPr lang="en-US" altLang="ko-KR" sz="1900" b="1" dirty="0">
                <a:solidFill>
                  <a:schemeClr val="dk1"/>
                </a:solidFill>
              </a:rPr>
              <a:t> </a:t>
            </a:r>
            <a:r>
              <a:rPr lang="ko-KR" sz="1900" b="1" dirty="0">
                <a:solidFill>
                  <a:schemeClr val="dk1"/>
                </a:solidFill>
              </a:rPr>
              <a:t> 5910.6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r>
              <a:rPr lang="ko-KR" sz="1900" b="1" dirty="0">
                <a:solidFill>
                  <a:schemeClr val="dk1"/>
                </a:solidFill>
              </a:rPr>
              <a:t>   평탄도 :  -0.019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04  프로젝트 결과</a:t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904216" y="2174846"/>
            <a:ext cx="5035800" cy="39564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905904" y="2171215"/>
            <a:ext cx="5035800" cy="597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C4587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3. 중간 휨(MID)</a:t>
            </a:r>
            <a:endParaRPr sz="23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903671" y="2753719"/>
            <a:ext cx="5035800" cy="82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34"/>
          <p:cNvSpPr/>
          <p:nvPr/>
        </p:nvSpPr>
        <p:spPr>
          <a:xfrm rot="10800000" flipH="1">
            <a:off x="901700" y="4273284"/>
            <a:ext cx="5040000" cy="1857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표 사진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6248799" y="2176671"/>
            <a:ext cx="5035800" cy="39564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6250488" y="2173040"/>
            <a:ext cx="5035800" cy="597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5264E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CASE 4. 많이 휨(HIGH)</a:t>
            </a:r>
            <a:endParaRPr sz="23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6248255" y="2755544"/>
            <a:ext cx="5035800" cy="82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 샘플 사진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34"/>
          <p:cNvSpPr/>
          <p:nvPr/>
        </p:nvSpPr>
        <p:spPr>
          <a:xfrm rot="10800000" flipH="1">
            <a:off x="6246283" y="4275109"/>
            <a:ext cx="5040000" cy="1857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FEFEF"/>
          </a:solidFill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표 사진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78" name="Google Shape;378;p34"/>
          <p:cNvPicPr preferRelativeResize="0"/>
          <p:nvPr/>
        </p:nvPicPr>
        <p:blipFill rotWithShape="1">
          <a:blip r:embed="rId3">
            <a:alphaModFix/>
          </a:blip>
          <a:srcRect t="51961" b="35719"/>
          <a:stretch/>
        </p:blipFill>
        <p:spPr>
          <a:xfrm>
            <a:off x="905900" y="2744000"/>
            <a:ext cx="5040000" cy="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4"/>
          <p:cNvPicPr preferRelativeResize="0"/>
          <p:nvPr/>
        </p:nvPicPr>
        <p:blipFill rotWithShape="1">
          <a:blip r:embed="rId4">
            <a:alphaModFix/>
          </a:blip>
          <a:srcRect t="53887" b="33794"/>
          <a:stretch/>
        </p:blipFill>
        <p:spPr>
          <a:xfrm>
            <a:off x="6250500" y="2742175"/>
            <a:ext cx="5040000" cy="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4"/>
          <p:cNvPicPr preferRelativeResize="0"/>
          <p:nvPr/>
        </p:nvPicPr>
        <p:blipFill rotWithShape="1">
          <a:blip r:embed="rId5">
            <a:alphaModFix/>
          </a:blip>
          <a:srcRect t="21513" b="17611"/>
          <a:stretch/>
        </p:blipFill>
        <p:spPr>
          <a:xfrm>
            <a:off x="901575" y="4275099"/>
            <a:ext cx="5040001" cy="18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4"/>
          <p:cNvPicPr preferRelativeResize="0"/>
          <p:nvPr/>
        </p:nvPicPr>
        <p:blipFill rotWithShape="1">
          <a:blip r:embed="rId6">
            <a:alphaModFix/>
          </a:blip>
          <a:srcRect t="21631" b="19458"/>
          <a:stretch/>
        </p:blipFill>
        <p:spPr>
          <a:xfrm>
            <a:off x="6242675" y="4273275"/>
            <a:ext cx="5047825" cy="18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03675" y="3588800"/>
            <a:ext cx="5035800" cy="696900"/>
          </a:xfrm>
          <a:prstGeom prst="rect">
            <a:avLst/>
          </a:prstGeom>
          <a:noFill/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chemeClr val="dk1"/>
                </a:solidFill>
              </a:rPr>
              <a:t>곡률(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lang="ko-KR" sz="1900" b="1" dirty="0">
                <a:solidFill>
                  <a:schemeClr val="dk1"/>
                </a:solidFill>
              </a:rPr>
              <a:t>) :</a:t>
            </a:r>
            <a:r>
              <a:rPr lang="en-US" altLang="ko-KR" sz="1900" b="1" dirty="0">
                <a:solidFill>
                  <a:schemeClr val="dk1"/>
                </a:solidFill>
              </a:rPr>
              <a:t>  </a:t>
            </a:r>
            <a:r>
              <a:rPr lang="ko-KR" sz="1900" b="1" dirty="0">
                <a:solidFill>
                  <a:schemeClr val="dk1"/>
                </a:solidFill>
              </a:rPr>
              <a:t>337.8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r>
              <a:rPr lang="ko-KR" sz="1900" b="1" dirty="0">
                <a:solidFill>
                  <a:schemeClr val="dk1"/>
                </a:solidFill>
              </a:rPr>
              <a:t>   평탄도 :  -3.237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6252600" y="3588800"/>
            <a:ext cx="5035800" cy="696900"/>
          </a:xfrm>
          <a:prstGeom prst="rect">
            <a:avLst/>
          </a:prstGeom>
          <a:noFill/>
          <a:ln w="9525" cap="flat" cmpd="sng">
            <a:solidFill>
              <a:srgbClr val="0526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chemeClr val="dk1"/>
                </a:solidFill>
              </a:rPr>
              <a:t>곡률(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lang="ko-KR" sz="1900" b="1" dirty="0">
                <a:solidFill>
                  <a:schemeClr val="dk1"/>
                </a:solidFill>
              </a:rPr>
              <a:t>) :  202.6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r>
              <a:rPr lang="ko-KR" sz="1900" b="1" dirty="0">
                <a:solidFill>
                  <a:schemeClr val="dk1"/>
                </a:solidFill>
              </a:rPr>
              <a:t>   평탄도 :  -5.534 </a:t>
            </a:r>
            <a:r>
              <a:rPr lang="ko-KR" sz="1900" b="1" dirty="0" err="1">
                <a:solidFill>
                  <a:schemeClr val="dk1"/>
                </a:solidFill>
              </a:rPr>
              <a:t>mm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조금휨">
            <a:hlinkClick r:id="" action="ppaction://media"/>
            <a:extLst>
              <a:ext uri="{FF2B5EF4-FFF2-40B4-BE49-F238E27FC236}">
                <a16:creationId xmlns:a16="http://schemas.microsoft.com/office/drawing/2014/main" id="{59BF51AB-377F-4B38-917D-279F4DBA3A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1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04  프로젝트 결과</a:t>
            </a:r>
            <a:endParaRPr/>
          </a:p>
        </p:txBody>
      </p:sp>
      <p:pic>
        <p:nvPicPr>
          <p:cNvPr id="2" name="많이휨">
            <a:hlinkClick r:id="" action="ppaction://media"/>
            <a:extLst>
              <a:ext uri="{FF2B5EF4-FFF2-40B4-BE49-F238E27FC236}">
                <a16:creationId xmlns:a16="http://schemas.microsoft.com/office/drawing/2014/main" id="{5B1C401F-3081-497A-B9BA-F6ABB3B9B4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7720"/>
            <a:ext cx="12192000" cy="6865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/>
          <p:nvPr/>
        </p:nvSpPr>
        <p:spPr>
          <a:xfrm>
            <a:off x="7817875" y="2422038"/>
            <a:ext cx="3420000" cy="34491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4349275" y="2422038"/>
            <a:ext cx="3420000" cy="34491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880675" y="2422038"/>
            <a:ext cx="3420000" cy="34491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36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5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05  결과분석 및 토의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989875" y="3886549"/>
            <a:ext cx="3196600" cy="177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목표</a:t>
            </a:r>
            <a:endParaRPr sz="125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측정 오차율 </a:t>
            </a:r>
            <a:r>
              <a:rPr lang="ko-KR" sz="1250" dirty="0">
                <a:solidFill>
                  <a:schemeClr val="dk1"/>
                </a:solidFill>
              </a:rPr>
              <a:t>±1.0% 이내, </a:t>
            </a:r>
            <a:endParaRPr sz="1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</a:rPr>
              <a:t>    반복 정밀도 0.1mm 이내</a:t>
            </a:r>
            <a:endParaRPr sz="125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</a:rPr>
              <a:t> </a:t>
            </a:r>
            <a:endParaRPr sz="1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b="1" dirty="0">
                <a:solidFill>
                  <a:schemeClr val="dk1"/>
                </a:solidFill>
              </a:rPr>
              <a:t>최종 결과</a:t>
            </a:r>
            <a:endParaRPr sz="1250" b="1" dirty="0">
              <a:solidFill>
                <a:schemeClr val="dk1"/>
              </a:solidFill>
            </a:endParaRPr>
          </a:p>
          <a:p>
            <a:pPr lvl="0"/>
            <a:r>
              <a:rPr lang="ko-KR" sz="125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</a:t>
            </a:r>
            <a:r>
              <a:rPr lang="ko-KR" sz="1250" dirty="0">
                <a:solidFill>
                  <a:schemeClr val="dk1"/>
                </a:solidFill>
              </a:rPr>
              <a:t>평균 오차율 </a:t>
            </a:r>
            <a:r>
              <a:rPr lang="ko-KR" altLang="ko-KR" sz="1250" dirty="0">
                <a:solidFill>
                  <a:schemeClr val="dk1"/>
                </a:solidFill>
              </a:rPr>
              <a:t>± </a:t>
            </a:r>
            <a:r>
              <a:rPr lang="ko-KR" sz="1250" dirty="0">
                <a:solidFill>
                  <a:schemeClr val="dk1"/>
                </a:solidFill>
              </a:rPr>
              <a:t>0.03%, </a:t>
            </a:r>
            <a:endParaRPr sz="12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</a:rPr>
              <a:t>     반복 정밀도 0.03mm</a:t>
            </a:r>
            <a:endParaRPr sz="1250" dirty="0">
              <a:solidFill>
                <a:schemeClr val="dk1"/>
              </a:solidFill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275" y="2568956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0675" y="2568956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6"/>
          <p:cNvSpPr txBox="1"/>
          <p:nvPr/>
        </p:nvSpPr>
        <p:spPr>
          <a:xfrm>
            <a:off x="1870675" y="3288950"/>
            <a:ext cx="14400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정확도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2" name="Google Shape;40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7875" y="2568956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6"/>
          <p:cNvSpPr txBox="1"/>
          <p:nvPr/>
        </p:nvSpPr>
        <p:spPr>
          <a:xfrm>
            <a:off x="8748350" y="3269125"/>
            <a:ext cx="1800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4386000" y="3886550"/>
            <a:ext cx="3548700" cy="15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800" tIns="82800" rIns="82800" bIns="828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STM32F411CEU6</a:t>
            </a:r>
            <a:endParaRPr sz="1268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</a:t>
            </a:r>
            <a:r>
              <a:rPr lang="ko-KR" sz="1268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Voltage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268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- 0V~3.3V</a:t>
            </a: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BD-100 (레이저 변위 센서)</a:t>
            </a:r>
            <a:endParaRPr sz="1268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</a:t>
            </a:r>
            <a:r>
              <a:rPr lang="ko-KR" sz="1268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Voltage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268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- 1V~5V</a:t>
            </a: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STM32 내부 ADC 사용으로 인한 손실 발생       </a:t>
            </a: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정확도 저하</a:t>
            </a: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8회 오버</a:t>
            </a:r>
            <a:r>
              <a:rPr lang="en-US" alt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샘플링을 통해 분해능 </a:t>
            </a:r>
            <a:endParaRPr lang="en-US" altLang="ko-KR"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13.43um   </a:t>
            </a:r>
            <a:r>
              <a:rPr lang="en-US" alt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268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4.75um으로 정확도 저하 최소화               </a:t>
            </a:r>
            <a:endParaRPr sz="1268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8134225" y="4011129"/>
            <a:ext cx="27873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</a:t>
            </a:r>
            <a:r>
              <a:rPr lang="ko-KR" sz="12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Flexible</a:t>
            </a:r>
            <a:r>
              <a:rPr lang="ko-KR" sz="12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12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r>
              <a:rPr lang="ko-KR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와</a:t>
            </a:r>
            <a:r>
              <a:rPr lang="ko-KR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같은 곡률 측정이 필수적인 제품에 확대하여 사용 가능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5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∎ </a:t>
            </a:r>
            <a:r>
              <a:rPr lang="ko-KR" sz="1250" dirty="0">
                <a:latin typeface="Calibri"/>
                <a:ea typeface="Calibri"/>
                <a:cs typeface="Calibri"/>
                <a:sym typeface="Calibri"/>
              </a:rPr>
              <a:t>측정 데이터를 그래프와 수치로    제공하여 공정개선을 위한 엔지니어의 판단에 도움</a:t>
            </a:r>
            <a:endParaRPr sz="12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5178939" y="5431359"/>
            <a:ext cx="163200" cy="3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8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00" tIns="82800" rIns="82800" bIns="82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8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4481135" y="5074251"/>
            <a:ext cx="163200" cy="3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86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800" tIns="82800" rIns="82800" bIns="82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8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36"/>
          <p:cNvSpPr txBox="1"/>
          <p:nvPr/>
        </p:nvSpPr>
        <p:spPr>
          <a:xfrm>
            <a:off x="5159275" y="3269113"/>
            <a:ext cx="1800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개선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8809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>
            <a:spLocks noGrp="1"/>
          </p:cNvSpPr>
          <p:nvPr>
            <p:ph type="title"/>
          </p:nvPr>
        </p:nvSpPr>
        <p:spPr>
          <a:xfrm>
            <a:off x="838200" y="2731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algun Gothic"/>
              <a:buNone/>
            </a:pPr>
            <a:r>
              <a:rPr lang="ko-KR"/>
              <a:t>06  느낀점 및 애로사항</a:t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1044238" y="2354350"/>
            <a:ext cx="3240000" cy="36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</a:t>
            </a:r>
            <a:endParaRPr sz="24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800" dirty="0">
                <a:solidFill>
                  <a:schemeClr val="dk1"/>
                </a:solidFill>
              </a:rPr>
              <a:t>설계했던 계획보다 실제 구현 시 </a:t>
            </a:r>
            <a:r>
              <a:rPr lang="ko-KR" sz="1800" dirty="0">
                <a:solidFill>
                  <a:srgbClr val="FF0000"/>
                </a:solidFill>
              </a:rPr>
              <a:t>모터의 미세 진동</a:t>
            </a:r>
            <a:r>
              <a:rPr lang="ko-KR" sz="1800" dirty="0">
                <a:solidFill>
                  <a:schemeClr val="dk1"/>
                </a:solidFill>
              </a:rPr>
              <a:t>이나 </a:t>
            </a:r>
            <a:r>
              <a:rPr lang="ko-KR" sz="1800" dirty="0">
                <a:solidFill>
                  <a:srgbClr val="FF0000"/>
                </a:solidFill>
              </a:rPr>
              <a:t>센서 노이즈</a:t>
            </a:r>
            <a:r>
              <a:rPr lang="ko-KR" sz="1800" dirty="0">
                <a:solidFill>
                  <a:schemeClr val="dk1"/>
                </a:solidFill>
              </a:rPr>
              <a:t>와 같은 물리적 변수에 부딪힘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800" dirty="0" err="1">
                <a:solidFill>
                  <a:schemeClr val="dk1"/>
                </a:solidFill>
              </a:rPr>
              <a:t>H</a:t>
            </a:r>
            <a:r>
              <a:rPr lang="ko-KR" sz="1800" dirty="0">
                <a:solidFill>
                  <a:schemeClr val="dk1"/>
                </a:solidFill>
              </a:rPr>
              <a:t>/</a:t>
            </a:r>
            <a:r>
              <a:rPr lang="ko-KR" sz="1800" dirty="0" err="1">
                <a:solidFill>
                  <a:schemeClr val="dk1"/>
                </a:solidFill>
              </a:rPr>
              <a:t>W와</a:t>
            </a:r>
            <a:r>
              <a:rPr lang="ko-KR" sz="1800" dirty="0">
                <a:solidFill>
                  <a:schemeClr val="dk1"/>
                </a:solidFill>
              </a:rPr>
              <a:t> </a:t>
            </a:r>
            <a:r>
              <a:rPr lang="ko-KR" sz="1800" dirty="0" err="1">
                <a:solidFill>
                  <a:schemeClr val="dk1"/>
                </a:solidFill>
              </a:rPr>
              <a:t>S</a:t>
            </a:r>
            <a:r>
              <a:rPr lang="ko-KR" sz="1800" dirty="0">
                <a:solidFill>
                  <a:schemeClr val="dk1"/>
                </a:solidFill>
              </a:rPr>
              <a:t>/</a:t>
            </a:r>
            <a:r>
              <a:rPr lang="ko-KR" sz="1800" dirty="0" err="1">
                <a:solidFill>
                  <a:schemeClr val="dk1"/>
                </a:solidFill>
              </a:rPr>
              <a:t>W</a:t>
            </a:r>
            <a:r>
              <a:rPr lang="ko-KR" sz="1800" dirty="0">
                <a:solidFill>
                  <a:schemeClr val="dk1"/>
                </a:solidFill>
              </a:rPr>
              <a:t> 통합 과정에서 수많은 시행착오 발생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-5103382" y="3481500"/>
            <a:ext cx="7539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4" name="Google Shape;4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705" y="2666167"/>
            <a:ext cx="472250" cy="4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7"/>
          <p:cNvSpPr/>
          <p:nvPr/>
        </p:nvSpPr>
        <p:spPr>
          <a:xfrm>
            <a:off x="4379901" y="2354350"/>
            <a:ext cx="3446193" cy="36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000FF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endParaRPr sz="24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</a:rPr>
              <a:t>회로 수정과 코드 최적화를 반복하며 문제를 해결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</a:rPr>
              <a:t>결과적으로 3D 프린팅 시편 표면의 </a:t>
            </a:r>
            <a:r>
              <a:rPr lang="ko-KR" sz="1800" dirty="0">
                <a:solidFill>
                  <a:srgbClr val="0000FF"/>
                </a:solidFill>
              </a:rPr>
              <a:t>‘미세한 적층 결’</a:t>
            </a:r>
            <a:r>
              <a:rPr lang="en-US" altLang="ko-KR" sz="1800" dirty="0">
                <a:solidFill>
                  <a:schemeClr val="dk1"/>
                </a:solidFill>
              </a:rPr>
              <a:t> </a:t>
            </a:r>
            <a:r>
              <a:rPr lang="ko-KR" sz="1800" dirty="0">
                <a:solidFill>
                  <a:schemeClr val="dk1"/>
                </a:solidFill>
              </a:rPr>
              <a:t>까지 잡아내는 수준의 </a:t>
            </a:r>
            <a:endParaRPr lang="en-US" altLang="ko-KR"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</a:rPr>
              <a:t>측정</a:t>
            </a:r>
            <a:r>
              <a:rPr lang="en-US" altLang="ko-KR" sz="1800" dirty="0">
                <a:solidFill>
                  <a:schemeClr val="dk1"/>
                </a:solidFill>
              </a:rPr>
              <a:t> </a:t>
            </a:r>
            <a:r>
              <a:rPr lang="ko-KR" sz="1800" dirty="0">
                <a:solidFill>
                  <a:schemeClr val="dk1"/>
                </a:solidFill>
              </a:rPr>
              <a:t>정밀도를 구현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16" name="Google Shape;41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100" y="2666174"/>
            <a:ext cx="472250" cy="4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7"/>
          <p:cNvSpPr/>
          <p:nvPr/>
        </p:nvSpPr>
        <p:spPr>
          <a:xfrm>
            <a:off x="7936624" y="2354350"/>
            <a:ext cx="3240000" cy="36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9900FF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</a:rPr>
              <a:t>단순 조립을 넘어 </a:t>
            </a:r>
            <a:endParaRPr lang="en-US" altLang="ko-KR"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rgbClr val="9900FF"/>
                </a:solidFill>
              </a:rPr>
              <a:t>하나의 완성된 시스템을 설계하고 검증</a:t>
            </a:r>
            <a:r>
              <a:rPr lang="ko-KR" sz="1800" dirty="0">
                <a:solidFill>
                  <a:schemeClr val="dk1"/>
                </a:solidFill>
              </a:rPr>
              <a:t>하는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</a:rPr>
              <a:t>전체 과정을 통해 </a:t>
            </a:r>
            <a:r>
              <a:rPr lang="ko-KR" sz="1800" dirty="0" err="1">
                <a:solidFill>
                  <a:schemeClr val="dk1"/>
                </a:solidFill>
              </a:rPr>
              <a:t>엔지니어로</a:t>
            </a:r>
            <a:r>
              <a:rPr lang="ko-KR" altLang="en-US" sz="1800" dirty="0" err="1">
                <a:solidFill>
                  <a:schemeClr val="dk1"/>
                </a:solidFill>
              </a:rPr>
              <a:t>써</a:t>
            </a:r>
            <a:r>
              <a:rPr lang="ko-KR" sz="1800" dirty="0" err="1">
                <a:solidFill>
                  <a:schemeClr val="dk1"/>
                </a:solidFill>
              </a:rPr>
              <a:t>의</a:t>
            </a:r>
            <a:r>
              <a:rPr lang="ko-KR" sz="1800" dirty="0">
                <a:solidFill>
                  <a:schemeClr val="dk1"/>
                </a:solidFill>
              </a:rPr>
              <a:t> 역량 확보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18" name="Google Shape;41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2336" y="2666175"/>
            <a:ext cx="472250" cy="4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7"/>
          <p:cNvSpPr txBox="1"/>
          <p:nvPr/>
        </p:nvSpPr>
        <p:spPr>
          <a:xfrm>
            <a:off x="1597895" y="2666200"/>
            <a:ext cx="26034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>
                <a:solidFill>
                  <a:schemeClr val="dk1"/>
                </a:solidFill>
              </a:rPr>
              <a:t>이론과 실무의 차이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37"/>
          <p:cNvSpPr txBox="1"/>
          <p:nvPr/>
        </p:nvSpPr>
        <p:spPr>
          <a:xfrm>
            <a:off x="5182273" y="2666200"/>
            <a:ext cx="26034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>
                <a:solidFill>
                  <a:schemeClr val="dk1"/>
                </a:solidFill>
              </a:rPr>
              <a:t>끈기 있는 최적화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8492450" y="2666200"/>
            <a:ext cx="26034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2000" b="1" dirty="0">
                <a:solidFill>
                  <a:schemeClr val="dk1"/>
                </a:solidFill>
              </a:rPr>
              <a:t> </a:t>
            </a:r>
            <a:r>
              <a:rPr lang="ko-KR" sz="2000" b="1" dirty="0">
                <a:solidFill>
                  <a:schemeClr val="dk1"/>
                </a:solidFill>
              </a:rPr>
              <a:t>엔지니어 역량 확보</a:t>
            </a:r>
            <a:endParaRPr lang="en-US" altLang="ko-KR" sz="20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sz="24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862</Words>
  <Application>Microsoft Office PowerPoint</Application>
  <PresentationFormat>와이드스크린</PresentationFormat>
  <Paragraphs>230</Paragraphs>
  <Slides>19</Slides>
  <Notes>18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Malgun Gothic</vt:lpstr>
      <vt:lpstr>Arial</vt:lpstr>
      <vt:lpstr>Calibri</vt:lpstr>
      <vt:lpstr>Office 테마</vt:lpstr>
      <vt:lpstr>Office 테마</vt:lpstr>
      <vt:lpstr>쏴조빔</vt:lpstr>
      <vt:lpstr>PowerPoint 프레젠테이션</vt:lpstr>
      <vt:lpstr>01  프로젝트 제작동기</vt:lpstr>
      <vt:lpstr>01  프로젝트 제작동기</vt:lpstr>
      <vt:lpstr>02  프로젝트 제작과정</vt:lpstr>
      <vt:lpstr>02  프로젝트 제작과정</vt:lpstr>
      <vt:lpstr>03  작품설명</vt:lpstr>
      <vt:lpstr>03 작품설명</vt:lpstr>
      <vt:lpstr>03 작품설명</vt:lpstr>
      <vt:lpstr>03 작품설명</vt:lpstr>
      <vt:lpstr>03 작품설명</vt:lpstr>
      <vt:lpstr>03 작품설명</vt:lpstr>
      <vt:lpstr>04  프로젝트 결과</vt:lpstr>
      <vt:lpstr>04  프로젝트 결과</vt:lpstr>
      <vt:lpstr>PowerPoint 프레젠테이션</vt:lpstr>
      <vt:lpstr>04  프로젝트 결과</vt:lpstr>
      <vt:lpstr>05  결과분석 및 토의</vt:lpstr>
      <vt:lpstr>06  느낀점 및 애로사항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쏴조빔</dc:title>
  <dc:creator>ED103_15</dc:creator>
  <cp:lastModifiedBy>user</cp:lastModifiedBy>
  <cp:revision>4</cp:revision>
  <dcterms:modified xsi:type="dcterms:W3CDTF">2025-12-04T16:53:36Z</dcterms:modified>
</cp:coreProperties>
</file>