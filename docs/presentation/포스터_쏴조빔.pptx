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359438" cy="51120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98">
          <p15:clr>
            <a:srgbClr val="A4A3A4"/>
          </p15:clr>
        </p15:guide>
        <p15:guide id="2" pos="57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928" y="-1272"/>
      </p:cViewPr>
      <p:guideLst>
        <p:guide orient="horz" pos="16098"/>
        <p:guide pos="57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13050" y="685800"/>
            <a:ext cx="123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376958" y="8366281"/>
            <a:ext cx="15605522" cy="17797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47"/>
              <a:buFont typeface="Calibri"/>
              <a:buNone/>
              <a:defRPr sz="1204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94930" y="26850192"/>
            <a:ext cx="13769579" cy="1234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4819"/>
              <a:buNone/>
              <a:defRPr sz="4819"/>
            </a:lvl1pPr>
            <a:lvl2pPr lvl="1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None/>
              <a:defRPr sz="4016"/>
            </a:lvl2pPr>
            <a:lvl3pPr lvl="2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None/>
              <a:defRPr sz="3614"/>
            </a:lvl3pPr>
            <a:lvl4pPr lvl="3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4pPr>
            <a:lvl5pPr lvl="4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5pPr>
            <a:lvl6pPr lvl="5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6pPr>
            <a:lvl7pPr lvl="6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7pPr>
            <a:lvl8pPr lvl="7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8pPr>
            <a:lvl9pPr lvl="8" algn="ctr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262212" y="13608513"/>
            <a:ext cx="15835015" cy="3243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252650" y="12744683"/>
            <a:ext cx="15835015" cy="2126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47"/>
              <a:buFont typeface="Calibri"/>
              <a:buNone/>
              <a:defRPr sz="1204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252650" y="34210633"/>
            <a:ext cx="15835015" cy="1118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4819"/>
              <a:buNone/>
              <a:defRPr sz="4819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4016"/>
              <a:buNone/>
              <a:defRPr sz="4016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614"/>
              <a:buNone/>
              <a:defRPr sz="3614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212"/>
              <a:buNone/>
              <a:defRPr sz="3212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212"/>
              <a:buNone/>
              <a:defRPr sz="3212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212"/>
              <a:buNone/>
              <a:defRPr sz="3212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212"/>
              <a:buNone/>
              <a:defRPr sz="3212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212"/>
              <a:buNone/>
              <a:defRPr sz="3212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rgbClr val="888888"/>
              </a:buClr>
              <a:buSzPts val="3212"/>
              <a:buNone/>
              <a:defRPr sz="321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262211" y="13608513"/>
            <a:ext cx="7802761" cy="3243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9294466" y="13608513"/>
            <a:ext cx="7802761" cy="3243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264603" y="2721714"/>
            <a:ext cx="15835015" cy="988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264604" y="12531669"/>
            <a:ext cx="7766902" cy="614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4819"/>
              <a:buNone/>
              <a:defRPr sz="4819" b="1"/>
            </a:lvl1pPr>
            <a:lvl2pPr marL="914400" lvl="1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None/>
              <a:defRPr sz="4016" b="1"/>
            </a:lvl2pPr>
            <a:lvl3pPr marL="1371600" lvl="2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None/>
              <a:defRPr sz="3614" b="1"/>
            </a:lvl3pPr>
            <a:lvl4pPr marL="1828800" lvl="3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4pPr>
            <a:lvl5pPr marL="2286000" lvl="4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5pPr>
            <a:lvl6pPr marL="2743200" lvl="5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6pPr>
            <a:lvl7pPr marL="3200400" lvl="6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7pPr>
            <a:lvl8pPr marL="3657600" lvl="7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8pPr>
            <a:lvl9pPr marL="4114800" lvl="8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1264604" y="18673247"/>
            <a:ext cx="7766902" cy="2746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9294467" y="12531669"/>
            <a:ext cx="7805152" cy="614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4819"/>
              <a:buNone/>
              <a:defRPr sz="4819" b="1"/>
            </a:lvl1pPr>
            <a:lvl2pPr marL="914400" lvl="1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None/>
              <a:defRPr sz="4016" b="1"/>
            </a:lvl2pPr>
            <a:lvl3pPr marL="1371600" lvl="2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None/>
              <a:defRPr sz="3614" b="1"/>
            </a:lvl3pPr>
            <a:lvl4pPr marL="1828800" lvl="3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4pPr>
            <a:lvl5pPr marL="2286000" lvl="4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5pPr>
            <a:lvl6pPr marL="2743200" lvl="5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6pPr>
            <a:lvl7pPr marL="3200400" lvl="6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7pPr>
            <a:lvl8pPr marL="3657600" lvl="7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8pPr>
            <a:lvl9pPr marL="4114800" lvl="8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9294467" y="18673247"/>
            <a:ext cx="7805152" cy="2746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64602" y="3408045"/>
            <a:ext cx="5921397" cy="1192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25"/>
              <a:buFont typeface="Calibri"/>
              <a:buNone/>
              <a:defRPr sz="64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805153" y="7360442"/>
            <a:ext cx="9294465" cy="3632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36587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6425"/>
              <a:buChar char="•"/>
              <a:defRPr sz="6425"/>
            </a:lvl1pPr>
            <a:lvl2pPr marL="914400" lvl="1" indent="-585597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5622"/>
              <a:buChar char="•"/>
              <a:defRPr sz="5622"/>
            </a:lvl2pPr>
            <a:lvl3pPr marL="1371600" lvl="2" indent="-534606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819"/>
              <a:buChar char="•"/>
              <a:defRPr sz="4819"/>
            </a:lvl3pPr>
            <a:lvl4pPr marL="1828800" lvl="3" indent="-483616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Char char="•"/>
              <a:defRPr sz="4016"/>
            </a:lvl4pPr>
            <a:lvl5pPr marL="2286000" lvl="4" indent="-483616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Char char="•"/>
              <a:defRPr sz="4016"/>
            </a:lvl5pPr>
            <a:lvl6pPr marL="2743200" lvl="5" indent="-483616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Char char="•"/>
              <a:defRPr sz="4016"/>
            </a:lvl6pPr>
            <a:lvl7pPr marL="3200400" lvl="6" indent="-483616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Char char="•"/>
              <a:defRPr sz="4016"/>
            </a:lvl7pPr>
            <a:lvl8pPr marL="3657600" lvl="7" indent="-483616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Char char="•"/>
              <a:defRPr sz="4016"/>
            </a:lvl8pPr>
            <a:lvl9pPr marL="4114800" lvl="8" indent="-483615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Char char="•"/>
              <a:defRPr sz="4016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64602" y="15336203"/>
            <a:ext cx="5921397" cy="2841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1pPr>
            <a:lvl2pPr marL="914400" lvl="1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811"/>
              <a:buNone/>
              <a:defRPr sz="2811"/>
            </a:lvl2pPr>
            <a:lvl3pPr marL="1371600" lvl="2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409"/>
              <a:buNone/>
              <a:defRPr sz="2409"/>
            </a:lvl3pPr>
            <a:lvl4pPr marL="1828800" lvl="3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4pPr>
            <a:lvl5pPr marL="2286000" lvl="4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5pPr>
            <a:lvl6pPr marL="2743200" lvl="5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6pPr>
            <a:lvl7pPr marL="3200400" lvl="6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7pPr>
            <a:lvl8pPr marL="3657600" lvl="7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8pPr>
            <a:lvl9pPr marL="4114800" lvl="8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64602" y="3408045"/>
            <a:ext cx="5921397" cy="1192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25"/>
              <a:buFont typeface="Calibri"/>
              <a:buNone/>
              <a:defRPr sz="64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805153" y="7360442"/>
            <a:ext cx="9294465" cy="3632881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64602" y="15336203"/>
            <a:ext cx="5921397" cy="2841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3212"/>
              <a:buNone/>
              <a:defRPr sz="3212"/>
            </a:lvl1pPr>
            <a:lvl2pPr marL="914400" lvl="1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811"/>
              <a:buNone/>
              <a:defRPr sz="2811"/>
            </a:lvl2pPr>
            <a:lvl3pPr marL="1371600" lvl="2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409"/>
              <a:buNone/>
              <a:defRPr sz="2409"/>
            </a:lvl3pPr>
            <a:lvl4pPr marL="1828800" lvl="3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4pPr>
            <a:lvl5pPr marL="2286000" lvl="4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5pPr>
            <a:lvl6pPr marL="2743200" lvl="5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6pPr>
            <a:lvl7pPr marL="3200400" lvl="6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7pPr>
            <a:lvl8pPr marL="3657600" lvl="7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8pPr>
            <a:lvl9pPr marL="4114800" lvl="8" indent="-2286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2008"/>
              <a:buNone/>
              <a:defRPr sz="2008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-7038080" y="21908805"/>
            <a:ext cx="32435599" cy="15835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-6543353" y="22403531"/>
            <a:ext cx="43322409" cy="395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-14575607" y="18559524"/>
            <a:ext cx="43322409" cy="1164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34"/>
              <a:buFont typeface="Calibri"/>
              <a:buNone/>
              <a:defRPr sz="88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62212" y="13608513"/>
            <a:ext cx="15835015" cy="3243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5597" algn="l" rtl="0">
              <a:lnSpc>
                <a:spcPct val="90000"/>
              </a:lnSpc>
              <a:spcBef>
                <a:spcPts val="2008"/>
              </a:spcBef>
              <a:spcAft>
                <a:spcPts val="0"/>
              </a:spcAft>
              <a:buClr>
                <a:schemeClr val="dk1"/>
              </a:buClr>
              <a:buSzPts val="5622"/>
              <a:buFont typeface="Arial"/>
              <a:buChar char="•"/>
              <a:defRPr sz="5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4606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819"/>
              <a:buFont typeface="Arial"/>
              <a:buChar char="•"/>
              <a:defRPr sz="4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3616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4016"/>
              <a:buFont typeface="Arial"/>
              <a:buChar char="•"/>
              <a:defRPr sz="40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8089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Font typeface="Arial"/>
              <a:buChar char="•"/>
              <a:defRPr sz="36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8089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Font typeface="Arial"/>
              <a:buChar char="•"/>
              <a:defRPr sz="36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8089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Font typeface="Arial"/>
              <a:buChar char="•"/>
              <a:defRPr sz="36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8089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Font typeface="Arial"/>
              <a:buChar char="•"/>
              <a:defRPr sz="36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8089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Font typeface="Arial"/>
              <a:buChar char="•"/>
              <a:defRPr sz="36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8089" algn="l" rtl="0">
              <a:lnSpc>
                <a:spcPct val="90000"/>
              </a:lnSpc>
              <a:spcBef>
                <a:spcPts val="1004"/>
              </a:spcBef>
              <a:spcAft>
                <a:spcPts val="0"/>
              </a:spcAft>
              <a:buClr>
                <a:schemeClr val="dk1"/>
              </a:buClr>
              <a:buSzPts val="3614"/>
              <a:buFont typeface="Arial"/>
              <a:buChar char="•"/>
              <a:defRPr sz="36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0808767" y="29169749"/>
            <a:ext cx="6671107" cy="1679171"/>
            <a:chOff x="10536713" y="29118996"/>
            <a:chExt cx="7150169" cy="1799755"/>
          </a:xfrm>
        </p:grpSpPr>
        <p:sp>
          <p:nvSpPr>
            <p:cNvPr id="85" name="Google Shape;85;p13"/>
            <p:cNvSpPr/>
            <p:nvPr/>
          </p:nvSpPr>
          <p:spPr>
            <a:xfrm>
              <a:off x="10536713" y="29119051"/>
              <a:ext cx="1647900" cy="17997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6450" cap="flat" cmpd="sng">
              <a:solidFill>
                <a:srgbClr val="E7E6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2075" tIns="62075" rIns="62075" bIns="62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0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12369464" y="29119051"/>
              <a:ext cx="1665300" cy="17997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6450" cap="flat" cmpd="sng">
              <a:solidFill>
                <a:srgbClr val="E7E6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2075" tIns="62075" rIns="62075" bIns="62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0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14245587" y="29118996"/>
              <a:ext cx="1603200" cy="17997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6450" cap="flat" cmpd="sng">
              <a:solidFill>
                <a:srgbClr val="E7E6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2075" tIns="62075" rIns="62075" bIns="62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0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6116981" y="29118996"/>
              <a:ext cx="1569900" cy="17997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6450" cap="flat" cmpd="sng">
              <a:solidFill>
                <a:srgbClr val="E7E6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2075" tIns="62075" rIns="62075" bIns="620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0"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10536830" y="30386156"/>
              <a:ext cx="16479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ko-KR" sz="1086">
                  <a:solidFill>
                    <a:srgbClr val="000000"/>
                  </a:solidFill>
                </a:rPr>
                <a:t>모터 원점 복귀 및 </a:t>
              </a:r>
              <a:endParaRPr sz="1086">
                <a:solidFill>
                  <a:srgbClr val="00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ko-KR" sz="1086">
                  <a:solidFill>
                    <a:srgbClr val="000000"/>
                  </a:solidFill>
                </a:rPr>
                <a:t>센서 영점 조정 수행</a:t>
              </a:r>
              <a:endParaRPr sz="1086">
                <a:solidFill>
                  <a:srgbClr val="00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6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2332020" y="30386156"/>
              <a:ext cx="17028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86">
                  <a:solidFill>
                    <a:srgbClr val="000000"/>
                  </a:solidFill>
                </a:rPr>
                <a:t>-30˚ ~ 30˚ 구간을 연속 스캔하며 데이터 획득</a:t>
              </a:r>
              <a:endParaRPr sz="1086">
                <a:solidFill>
                  <a:srgbClr val="00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6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14271113" y="30386156"/>
              <a:ext cx="15699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86">
                  <a:solidFill>
                    <a:srgbClr val="000000"/>
                  </a:solidFill>
                </a:rPr>
                <a:t>스캔 데이터 기반으로 </a:t>
              </a:r>
              <a:endParaRPr sz="1086">
                <a:solidFill>
                  <a:srgbClr val="00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86">
                  <a:solidFill>
                    <a:srgbClr val="000000"/>
                  </a:solidFill>
                </a:rPr>
                <a:t>곡률 및 평탄도 연산 </a:t>
              </a:r>
              <a:endParaRPr sz="1086">
                <a:solidFill>
                  <a:srgbClr val="00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6">
                <a:solidFill>
                  <a:srgbClr val="000000"/>
                </a:solidFill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16210858" y="30386156"/>
              <a:ext cx="13980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86">
                  <a:solidFill>
                    <a:srgbClr val="000000"/>
                  </a:solidFill>
                </a:rPr>
                <a:t>GUI를 통해 결과 및 그래프 출력</a:t>
              </a:r>
              <a:endParaRPr sz="1086">
                <a:solidFill>
                  <a:srgbClr val="000000"/>
                </a:solidFill>
              </a:endParaRPr>
            </a:p>
          </p:txBody>
        </p:sp>
        <p:pic>
          <p:nvPicPr>
            <p:cNvPr id="93" name="Google Shape;9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71048" y="29251609"/>
              <a:ext cx="523965" cy="523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3"/>
            <p:cNvSpPr txBox="1"/>
            <p:nvPr/>
          </p:nvSpPr>
          <p:spPr>
            <a:xfrm>
              <a:off x="10586271" y="29938252"/>
              <a:ext cx="14934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57" b="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1. 초기화</a:t>
              </a:r>
              <a:endParaRPr sz="135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5" name="Google Shape;95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925882" y="29251609"/>
              <a:ext cx="523965" cy="523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794096" y="29251609"/>
              <a:ext cx="523965" cy="523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6647824" y="29251609"/>
              <a:ext cx="523965" cy="523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3"/>
            <p:cNvSpPr txBox="1"/>
            <p:nvPr/>
          </p:nvSpPr>
          <p:spPr>
            <a:xfrm>
              <a:off x="12441105" y="29938252"/>
              <a:ext cx="14934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57" b="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 연속 스캔</a:t>
              </a:r>
              <a:endParaRPr sz="1357" b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14309318" y="29938252"/>
              <a:ext cx="14934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57" b="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3. 데이터 연산</a:t>
              </a:r>
              <a:endParaRPr sz="135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16163046" y="29938252"/>
              <a:ext cx="14934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075" tIns="62075" rIns="62075" bIns="62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57" b="1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4. 결과 출력</a:t>
              </a:r>
              <a:endParaRPr sz="1357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01" name="Google Shape;101;p13"/>
          <p:cNvPicPr preferRelativeResize="0"/>
          <p:nvPr/>
        </p:nvPicPr>
        <p:blipFill rotWithShape="1">
          <a:blip r:embed="rId8">
            <a:alphaModFix/>
          </a:blip>
          <a:srcRect l="7612" r="6172"/>
          <a:stretch/>
        </p:blipFill>
        <p:spPr>
          <a:xfrm>
            <a:off x="2912525" y="17897800"/>
            <a:ext cx="6769224" cy="25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 rotWithShape="1">
          <a:blip r:embed="rId9">
            <a:alphaModFix/>
          </a:blip>
          <a:srcRect r="2095"/>
          <a:stretch/>
        </p:blipFill>
        <p:spPr>
          <a:xfrm>
            <a:off x="305625" y="18118863"/>
            <a:ext cx="2611800" cy="2929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10">
            <a:alphaModFix/>
          </a:blip>
          <a:srcRect b="41040"/>
          <a:stretch/>
        </p:blipFill>
        <p:spPr>
          <a:xfrm>
            <a:off x="10672256" y="19379382"/>
            <a:ext cx="6671180" cy="19959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3"/>
          <p:cNvCxnSpPr/>
          <p:nvPr/>
        </p:nvCxnSpPr>
        <p:spPr>
          <a:xfrm>
            <a:off x="2418735" y="5949131"/>
            <a:ext cx="12919588" cy="0"/>
          </a:xfrm>
          <a:prstGeom prst="straightConnector1">
            <a:avLst/>
          </a:prstGeom>
          <a:noFill/>
          <a:ln w="76200" cap="flat" cmpd="sng">
            <a:solidFill>
              <a:srgbClr val="00206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" name="Google Shape;105;p13"/>
          <p:cNvSpPr/>
          <p:nvPr/>
        </p:nvSpPr>
        <p:spPr>
          <a:xfrm>
            <a:off x="362857" y="9281652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제작동기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362857" y="15824275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내용</a:t>
            </a:r>
            <a:endParaRPr sz="4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305637" y="31430772"/>
            <a:ext cx="17748300" cy="943800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작품 구현 및 결과</a:t>
            </a:r>
            <a:endParaRPr sz="4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162608" y="6719568"/>
            <a:ext cx="3789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전자공학과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162608" y="7898247"/>
            <a:ext cx="3789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송동섭</a:t>
            </a:r>
            <a:r>
              <a:rPr lang="ko-K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교수님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371232" y="6737707"/>
            <a:ext cx="3789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쏴조빔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9247961" y="7883229"/>
            <a:ext cx="3789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(주)천진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1869318" y="7484174"/>
            <a:ext cx="55839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김재민, 이준서, 이규현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우희준, 주재홍, 조민재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2418735" y="4855887"/>
            <a:ext cx="12919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레이저 변위센서를 이용한 곡률측정 시스템</a:t>
            </a:r>
            <a:endParaRPr sz="4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362850" y="10586575"/>
            <a:ext cx="8229600" cy="50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불량의 원인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디스플레이 및 반도체 제조 공정에서 평탄도 및 미세한 곡률 변화는 심각한 품질 문제를 초래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sz="2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측정 반복성 저하 </a:t>
            </a: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동일 공정 내 데이터 신뢰도 하락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ko-KR" sz="2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편차 증가 </a:t>
            </a: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제품 간 품질 격차 발생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ko-KR" sz="2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균일도 저하 </a:t>
            </a: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공정 불안정 유발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ko-KR" sz="24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 변화를 실시간으로 시각화 할 수 있는 시스템을 목표로 개발을 진행</a:t>
            </a:r>
            <a:endParaRPr sz="22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7706" y="26596040"/>
            <a:ext cx="3413122" cy="1811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28592" y="10640542"/>
            <a:ext cx="542407" cy="48188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8994248" y="10528034"/>
            <a:ext cx="41235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24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방식의 한계</a:t>
            </a:r>
            <a:endParaRPr sz="2400" b="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lgun Gothic"/>
              <a:buAutoNum type="arabicPeriod"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접촉식 방식의 제품 손상 위험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압력에 의해 제품 표면에 미세한 스크래치 또는 변형 유발 가능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단일 지점 측정의 데이터 신뢰성 부족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장비 규모가 크고 구축 비용이 높아 현장 적용에 부담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3930595" y="10503676"/>
            <a:ext cx="4196400" cy="4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2400" b="1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제안: 원호 스캔 시스템</a:t>
            </a:r>
            <a:endParaRPr sz="2400" b="1">
              <a:solidFill>
                <a:schemeClr val="accent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AutoNum type="arabicPeriod"/>
            </a:pPr>
            <a:r>
              <a:rPr lang="ko-KR" sz="2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모터 기반 연속 스캔</a:t>
            </a:r>
            <a:endParaRPr sz="2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모터 회전만으로 넓은 범위 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가능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lang="ko-KR" sz="2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시각화</a:t>
            </a:r>
            <a:endParaRPr sz="2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형상 변화를 즉각적으로 그래프화 하여 공정 피드백 속도 향상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0618657" y="18306990"/>
            <a:ext cx="1335600" cy="5823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 </a:t>
            </a:r>
            <a:endParaRPr sz="23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585319" y="17131637"/>
            <a:ext cx="708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 sz="3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삼각 측정법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1" name="Google Shape;12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22223" y="28105483"/>
            <a:ext cx="2339999" cy="14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6643053" y="26953021"/>
            <a:ext cx="26676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Python을 활용한 GUI </a:t>
            </a: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구현을 통해 검사 결과 실시간 확인 가능</a:t>
            </a:r>
            <a:endParaRPr sz="18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7292125" y="26212095"/>
            <a:ext cx="13758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접근성</a:t>
            </a:r>
            <a:endParaRPr sz="2500" i="0" u="none" strike="noStrik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148006" y="26212095"/>
            <a:ext cx="13758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활용성</a:t>
            </a:r>
            <a:endParaRPr sz="2500" i="0" u="none" strike="noStrik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3162608" y="26873677"/>
            <a:ext cx="3287100" cy="14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소형 장비 규모와 저렴한 </a:t>
            </a:r>
            <a:endParaRPr sz="18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구축 비용으로 인해 </a:t>
            </a:r>
            <a:endParaRPr sz="18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현장 적용에 부담 저하</a:t>
            </a:r>
            <a:endParaRPr sz="1800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065012" y="26178195"/>
            <a:ext cx="16284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스펙</a:t>
            </a:r>
            <a:endParaRPr sz="2500" b="1" i="0" u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776950" y="27025063"/>
            <a:ext cx="22518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분해능:4um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기준거리:100mm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측정거리:70~130mm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응답시간:1ms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253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10161150" y="17848500"/>
            <a:ext cx="7854600" cy="13147800"/>
          </a:xfrm>
          <a:prstGeom prst="roundRect">
            <a:avLst>
              <a:gd name="adj" fmla="val 11758"/>
            </a:avLst>
          </a:prstGeom>
          <a:noFill/>
          <a:ln w="88900" cap="flat" cmpd="sng">
            <a:solidFill>
              <a:srgbClr val="00174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0223778" y="17150050"/>
            <a:ext cx="708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ko-KR" sz="3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 프로세스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12057338" y="18388302"/>
            <a:ext cx="7088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GUI를 통한 제어 시작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10618658" y="19030890"/>
            <a:ext cx="1335600" cy="5823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algun Gothic"/>
              <a:buNone/>
            </a:pPr>
            <a:r>
              <a:rPr lang="ko-KR" sz="23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 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12043051" y="19088392"/>
            <a:ext cx="7088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모터를 이용하여 레이저 변위센서 회전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0766701" y="21241044"/>
            <a:ext cx="708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모터를 이용하여 레이저 변위센서 -30˚~30˚ 회전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레이저 변위센서 거리 측정</a:t>
            </a:r>
            <a:r>
              <a:rPr lang="ko-KR" sz="2000" b="1">
                <a:latin typeface="Malgun Gothic"/>
                <a:ea typeface="Malgun Gothic"/>
                <a:cs typeface="Malgun Gothic"/>
                <a:sym typeface="Malgun Gothic"/>
              </a:rPr>
              <a:t> 샘플링 주기 30ms</a:t>
            </a: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sz="2000" b="1">
                <a:latin typeface="Malgun Gothic"/>
                <a:ea typeface="Malgun Gothic"/>
                <a:cs typeface="Malgun Gothic"/>
                <a:sym typeface="Malgun Gothic"/>
              </a:rPr>
              <a:t>약 </a:t>
            </a: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33.3Hz)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0615483" y="22003744"/>
            <a:ext cx="1335600" cy="5823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algun Gothic"/>
              <a:buNone/>
            </a:pPr>
            <a:r>
              <a:rPr lang="ko-KR" sz="23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 </a:t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10615484" y="22752520"/>
            <a:ext cx="1335600" cy="5823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algun Gothic"/>
              <a:buNone/>
            </a:pPr>
            <a:r>
              <a:rPr lang="ko-KR" sz="23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 </a:t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10617901" y="25879894"/>
            <a:ext cx="1335600" cy="5823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algun Gothic"/>
              <a:buNone/>
            </a:pPr>
            <a:r>
              <a:rPr lang="ko-KR" sz="23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5 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12038289" y="22074476"/>
            <a:ext cx="7088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 MCU에서 평탄도 및 곡률 계산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2038283" y="22793616"/>
            <a:ext cx="7088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Python에서 불량 판별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10650780" y="25118562"/>
            <a:ext cx="708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그래프 불량 기준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임계값 THRESH = 0.</a:t>
            </a:r>
            <a:r>
              <a:rPr lang="ko-KR" sz="2000" b="1"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r>
              <a:rPr lang="ko-KR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mm 초과인 경우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12038288" y="25951156"/>
            <a:ext cx="7088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GUI에서 결과 및 그래프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14">
            <a:alphaModFix/>
          </a:blip>
          <a:srcRect t="69956"/>
          <a:stretch/>
        </p:blipFill>
        <p:spPr>
          <a:xfrm>
            <a:off x="10651750" y="23459438"/>
            <a:ext cx="6858625" cy="1648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15">
            <a:alphaModFix/>
          </a:blip>
          <a:srcRect t="4110"/>
          <a:stretch/>
        </p:blipFill>
        <p:spPr>
          <a:xfrm>
            <a:off x="14270154" y="26641466"/>
            <a:ext cx="3306530" cy="181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707299" y="29467883"/>
            <a:ext cx="23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583949" y="25700338"/>
            <a:ext cx="708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ko-KR" sz="3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특장점</a:t>
            </a:r>
            <a:endParaRPr sz="3000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p13" descr="확인 표시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13069" y="12596143"/>
            <a:ext cx="289877" cy="28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 descr="확인 표시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13068" y="13332910"/>
            <a:ext cx="289877" cy="28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 descr="확인 표시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13068" y="14078276"/>
            <a:ext cx="289877" cy="28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 descr="줄 화살표: 일자형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 rot="10800000">
            <a:off x="517859" y="14728841"/>
            <a:ext cx="377950" cy="45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547237" y="10786306"/>
            <a:ext cx="607977" cy="60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3025378" y="10614048"/>
            <a:ext cx="542407" cy="4818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3460017" y="10726023"/>
            <a:ext cx="607977" cy="60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76962" y="28539485"/>
            <a:ext cx="2251800" cy="225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665896" y="28138383"/>
            <a:ext cx="23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 txBox="1"/>
          <p:nvPr/>
        </p:nvSpPr>
        <p:spPr>
          <a:xfrm>
            <a:off x="583944" y="21479021"/>
            <a:ext cx="708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ko-KR" sz="3000" b="1">
                <a:latin typeface="Malgun Gothic"/>
                <a:ea typeface="Malgun Gothic"/>
                <a:cs typeface="Malgun Gothic"/>
                <a:sym typeface="Malgun Gothic"/>
              </a:rPr>
              <a:t>Bow와 Curv 계산 공식</a:t>
            </a:r>
            <a:endParaRPr sz="3000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5" name="Google Shape;155;p13"/>
          <p:cNvCxnSpPr/>
          <p:nvPr/>
        </p:nvCxnSpPr>
        <p:spPr>
          <a:xfrm>
            <a:off x="4833287" y="22779980"/>
            <a:ext cx="0" cy="2173500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3"/>
          <p:cNvSpPr/>
          <p:nvPr/>
        </p:nvSpPr>
        <p:spPr>
          <a:xfrm>
            <a:off x="357118" y="22168275"/>
            <a:ext cx="9124800" cy="3396900"/>
          </a:xfrm>
          <a:prstGeom prst="roundRect">
            <a:avLst>
              <a:gd name="adj" fmla="val 16667"/>
            </a:avLst>
          </a:prstGeom>
          <a:noFill/>
          <a:ln w="88900" cap="flat" cmpd="sng">
            <a:solidFill>
              <a:srgbClr val="00174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665900" y="29489325"/>
            <a:ext cx="23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3"/>
          <p:cNvSpPr/>
          <p:nvPr/>
        </p:nvSpPr>
        <p:spPr>
          <a:xfrm>
            <a:off x="10842879" y="40460710"/>
            <a:ext cx="6834000" cy="1203900"/>
          </a:xfrm>
          <a:prstGeom prst="roundRect">
            <a:avLst>
              <a:gd name="adj" fmla="val 16667"/>
            </a:avLst>
          </a:prstGeom>
          <a:solidFill>
            <a:srgbClr val="00174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98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 측정 데이터를 그래프와 수치로 제공하여</a:t>
            </a:r>
            <a:endParaRPr sz="2498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98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공정개선을 위한 엔지니어의 판단에 도움</a:t>
            </a:r>
            <a:endParaRPr sz="249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842890" y="37742414"/>
            <a:ext cx="6834000" cy="1203900"/>
          </a:xfrm>
          <a:prstGeom prst="roundRect">
            <a:avLst>
              <a:gd name="adj" fmla="val 16667"/>
            </a:avLst>
          </a:prstGeom>
          <a:solidFill>
            <a:srgbClr val="00174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98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  Flexible Display와 같은 곡률 측정이</a:t>
            </a:r>
            <a:endParaRPr sz="2498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98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필수적인 제품에 확대하여 사용 가능</a:t>
            </a:r>
            <a:endParaRPr sz="249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842890" y="39060480"/>
            <a:ext cx="6834000" cy="1286100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98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 교육/연구 목적의 검사 장비 개발을 통해 </a:t>
            </a:r>
            <a:endParaRPr sz="2498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98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대학 및 중소기업의 R&amp;D 인프라 구축</a:t>
            </a:r>
            <a:endParaRPr sz="249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10419778" y="32899572"/>
            <a:ext cx="46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작품 사진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13"/>
          <p:cNvGrpSpPr/>
          <p:nvPr/>
        </p:nvGrpSpPr>
        <p:grpSpPr>
          <a:xfrm>
            <a:off x="10331200" y="33386854"/>
            <a:ext cx="7533278" cy="3144994"/>
            <a:chOff x="10382913" y="33512405"/>
            <a:chExt cx="7533278" cy="3144994"/>
          </a:xfrm>
        </p:grpSpPr>
        <p:pic>
          <p:nvPicPr>
            <p:cNvPr id="163" name="Google Shape;163;p13"/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12138188" y="33512405"/>
              <a:ext cx="4811873" cy="31449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3"/>
            <p:cNvSpPr/>
            <p:nvPr/>
          </p:nvSpPr>
          <p:spPr>
            <a:xfrm>
              <a:off x="10434465" y="33901863"/>
              <a:ext cx="2611800" cy="582300"/>
            </a:xfrm>
            <a:prstGeom prst="roundRect">
              <a:avLst>
                <a:gd name="adj" fmla="val 48812"/>
              </a:avLst>
            </a:prstGeom>
            <a:solidFill>
              <a:srgbClr val="001746"/>
            </a:solidFill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Malgun Gothic"/>
                <a:buNone/>
              </a:pPr>
              <a:r>
                <a:rPr lang="ko-KR" sz="23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레이저 변위센서</a:t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6828391" y="33770690"/>
              <a:ext cx="1087800" cy="582300"/>
            </a:xfrm>
            <a:prstGeom prst="roundRect">
              <a:avLst>
                <a:gd name="adj" fmla="val 48812"/>
              </a:avLst>
            </a:prstGeom>
            <a:solidFill>
              <a:srgbClr val="001746"/>
            </a:solidFill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Malgun Gothic"/>
                <a:buNone/>
              </a:pPr>
              <a:r>
                <a:rPr lang="ko-KR" sz="23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모터</a:t>
              </a:r>
              <a:endParaRPr/>
            </a:p>
          </p:txBody>
        </p:sp>
        <p:cxnSp>
          <p:nvCxnSpPr>
            <p:cNvPr id="166" name="Google Shape;166;p13"/>
            <p:cNvCxnSpPr>
              <a:endCxn id="165" idx="1"/>
            </p:cNvCxnSpPr>
            <p:nvPr/>
          </p:nvCxnSpPr>
          <p:spPr>
            <a:xfrm>
              <a:off x="14748791" y="33964040"/>
              <a:ext cx="2079600" cy="9780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lgDash"/>
              <a:miter lim="8000"/>
              <a:headEnd type="none" w="sm" len="sm"/>
              <a:tailEnd type="none" w="sm" len="sm"/>
            </a:ln>
          </p:spPr>
        </p:cxnSp>
        <p:cxnSp>
          <p:nvCxnSpPr>
            <p:cNvPr id="167" name="Google Shape;167;p13"/>
            <p:cNvCxnSpPr>
              <a:stCxn id="164" idx="3"/>
            </p:cNvCxnSpPr>
            <p:nvPr/>
          </p:nvCxnSpPr>
          <p:spPr>
            <a:xfrm rot="10800000" flipH="1">
              <a:off x="13046265" y="34125813"/>
              <a:ext cx="811500" cy="67200"/>
            </a:xfrm>
            <a:prstGeom prst="straightConnector1">
              <a:avLst/>
            </a:prstGeom>
            <a:noFill/>
            <a:ln w="25400" cap="flat" cmpd="sng">
              <a:solidFill>
                <a:srgbClr val="4472C4"/>
              </a:solidFill>
              <a:prstDash val="lgDash"/>
              <a:miter lim="8000"/>
              <a:headEnd type="none" w="sm" len="sm"/>
              <a:tailEnd type="none" w="sm" len="sm"/>
            </a:ln>
          </p:spPr>
        </p:cxnSp>
        <p:sp>
          <p:nvSpPr>
            <p:cNvPr id="168" name="Google Shape;168;p13"/>
            <p:cNvSpPr/>
            <p:nvPr/>
          </p:nvSpPr>
          <p:spPr>
            <a:xfrm>
              <a:off x="16662813" y="35766163"/>
              <a:ext cx="1241700" cy="554100"/>
            </a:xfrm>
            <a:prstGeom prst="roundRect">
              <a:avLst>
                <a:gd name="adj" fmla="val 48812"/>
              </a:avLst>
            </a:prstGeom>
            <a:solidFill>
              <a:srgbClr val="001746"/>
            </a:solidFill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Malgun Gothic"/>
                <a:buNone/>
              </a:pPr>
              <a:r>
                <a:rPr lang="ko-KR" sz="23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MCU</a:t>
              </a:r>
              <a:endParaRPr/>
            </a:p>
          </p:txBody>
        </p:sp>
        <p:cxnSp>
          <p:nvCxnSpPr>
            <p:cNvPr id="169" name="Google Shape;169;p13"/>
            <p:cNvCxnSpPr>
              <a:endCxn id="168" idx="1"/>
            </p:cNvCxnSpPr>
            <p:nvPr/>
          </p:nvCxnSpPr>
          <p:spPr>
            <a:xfrm>
              <a:off x="15164613" y="35583013"/>
              <a:ext cx="1498200" cy="46020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lgDash"/>
              <a:miter lim="8000"/>
              <a:headEnd type="none" w="sm" len="sm"/>
              <a:tailEnd type="none" w="sm" len="sm"/>
            </a:ln>
          </p:spPr>
        </p:cxnSp>
        <p:sp>
          <p:nvSpPr>
            <p:cNvPr id="170" name="Google Shape;170;p13"/>
            <p:cNvSpPr/>
            <p:nvPr/>
          </p:nvSpPr>
          <p:spPr>
            <a:xfrm>
              <a:off x="10382913" y="35630063"/>
              <a:ext cx="2149800" cy="646200"/>
            </a:xfrm>
            <a:prstGeom prst="roundRect">
              <a:avLst>
                <a:gd name="adj" fmla="val 48812"/>
              </a:avLst>
            </a:prstGeom>
            <a:solidFill>
              <a:srgbClr val="001746"/>
            </a:solidFill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Malgun Gothic"/>
                <a:buNone/>
              </a:pPr>
              <a:r>
                <a:rPr lang="ko-KR" sz="23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파워서플라이</a:t>
              </a:r>
              <a:endParaRPr/>
            </a:p>
          </p:txBody>
        </p:sp>
        <p:cxnSp>
          <p:nvCxnSpPr>
            <p:cNvPr id="171" name="Google Shape;171;p13"/>
            <p:cNvCxnSpPr>
              <a:stCxn id="170" idx="3"/>
            </p:cNvCxnSpPr>
            <p:nvPr/>
          </p:nvCxnSpPr>
          <p:spPr>
            <a:xfrm rot="10800000" flipH="1">
              <a:off x="12532713" y="35797763"/>
              <a:ext cx="1241700" cy="155400"/>
            </a:xfrm>
            <a:prstGeom prst="straightConnector1">
              <a:avLst/>
            </a:prstGeom>
            <a:noFill/>
            <a:ln w="25400" cap="flat" cmpd="sng">
              <a:solidFill>
                <a:srgbClr val="4472C4"/>
              </a:solidFill>
              <a:prstDash val="lgDash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72" name="Google Shape;172;p13"/>
          <p:cNvSpPr txBox="1"/>
          <p:nvPr/>
        </p:nvSpPr>
        <p:spPr>
          <a:xfrm>
            <a:off x="10536713" y="28427066"/>
            <a:ext cx="708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>
                <a:latin typeface="Malgun Gothic"/>
                <a:ea typeface="Malgun Gothic"/>
                <a:cs typeface="Malgun Gothic"/>
                <a:sym typeface="Malgun Gothic"/>
              </a:rPr>
              <a:t>데이터(측정거리, 곡률, 평탄도, 임계 값 이상치)를 실시간으로 그래프로 시각화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3" name="Google Shape;173;p1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087075" y="2649484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3" descr="확인 표시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1647" y="2649484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3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903104" y="26494845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 txBox="1"/>
          <p:nvPr/>
        </p:nvSpPr>
        <p:spPr>
          <a:xfrm>
            <a:off x="10758828" y="37069860"/>
            <a:ext cx="708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 sz="3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기대효과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2624572" y="20239173"/>
            <a:ext cx="71502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800" b="1" dirty="0">
                <a:latin typeface="Malgun Gothic"/>
                <a:ea typeface="Malgun Gothic"/>
                <a:cs typeface="Malgun Gothic"/>
                <a:sym typeface="Malgun Gothic"/>
              </a:rPr>
              <a:t>투광소자에서 나온 레이저가 대상물 표면에서 반사되어 이미지 센서에 맺히는 위치 변화(변위)</a:t>
            </a:r>
            <a:r>
              <a:rPr lang="ko-KR" sz="1800" b="1" dirty="0" err="1"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lang="ko-KR" sz="1800" b="1" dirty="0">
                <a:latin typeface="Malgun Gothic"/>
                <a:ea typeface="Malgun Gothic"/>
                <a:cs typeface="Malgun Gothic"/>
                <a:sym typeface="Malgun Gothic"/>
              </a:rPr>
              <a:t> 이용해 거리를 정밀하게 측정</a:t>
            </a:r>
            <a:endParaRPr sz="1800" b="1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57118" y="17848488"/>
            <a:ext cx="9124800" cy="3396900"/>
          </a:xfrm>
          <a:prstGeom prst="roundRect">
            <a:avLst>
              <a:gd name="adj" fmla="val 16667"/>
            </a:avLst>
          </a:prstGeom>
          <a:noFill/>
          <a:ln w="88900" cap="flat" cmpd="sng">
            <a:solidFill>
              <a:srgbClr val="00174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357118" y="26309900"/>
            <a:ext cx="9124800" cy="4686300"/>
          </a:xfrm>
          <a:prstGeom prst="roundRect">
            <a:avLst>
              <a:gd name="adj" fmla="val 16667"/>
            </a:avLst>
          </a:prstGeom>
          <a:noFill/>
          <a:ln w="88900" cap="flat" cmpd="sng">
            <a:solidFill>
              <a:srgbClr val="00174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3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613924" y="39056275"/>
            <a:ext cx="9182101" cy="2674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/>
          <p:nvPr/>
        </p:nvSpPr>
        <p:spPr>
          <a:xfrm>
            <a:off x="585324" y="32706490"/>
            <a:ext cx="46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반복 정밀도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630150" y="33321800"/>
            <a:ext cx="6092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정지 상태에서 같은 위치의 감지된 물체를 반복적으로 측정하여 얻은 값 (오차율 0.03%)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646373" y="37873331"/>
            <a:ext cx="9182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금속·플라스틱·고무·조도·바람·소음 조건에서 측정값 변동은 0.004mm 이하로 나타나, 환경에 매우 강건한 특성을 확인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613936" y="37300506"/>
            <a:ext cx="46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환경 안정성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3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25225" y="34257747"/>
            <a:ext cx="9391949" cy="2915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3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68675" y="22336725"/>
            <a:ext cx="3420000" cy="30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3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5385000" y="22336725"/>
            <a:ext cx="3420000" cy="30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447</Words>
  <Application>Microsoft Office PowerPoint</Application>
  <PresentationFormat>사용자 지정</PresentationFormat>
  <Paragraphs>104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ED103_36</dc:creator>
  <cp:lastModifiedBy>user</cp:lastModifiedBy>
  <cp:revision>2</cp:revision>
  <dcterms:modified xsi:type="dcterms:W3CDTF">2025-12-04T16:41:35Z</dcterms:modified>
</cp:coreProperties>
</file>